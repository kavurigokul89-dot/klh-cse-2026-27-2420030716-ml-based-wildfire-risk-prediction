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9" r:id="rId17"/>
    <p:sldId id="271" r:id="rId18"/>
    <p:sldId id="275" r:id="rId19"/>
  </p:sldIdLst>
  <p:sldSz cx="9144000" cy="5143500" type="screen16x9"/>
  <p:notesSz cx="6858000" cy="9144000"/>
  <p:embeddedFontLst>
    <p:embeddedFont>
      <p:font typeface="Figtree"/>
      <p:regular r:id="rId23"/>
    </p:embeddedFont>
    <p:embeddedFont>
      <p:font typeface="Assistant"/>
      <p:regular r:id="rId24"/>
    </p:embeddedFont>
    <p:embeddedFont>
      <p:font typeface="DM Sans"/>
      <p:regular r:id="rId25"/>
    </p:embeddedFont>
    <p:embeddedFont>
      <p:font typeface="Figtree SemiBold"/>
      <p:bold r:id="rId26"/>
      <p:boldItalic r:id="rId27"/>
    </p:embeddedFont>
    <p:embeddedFont>
      <p:font typeface="Assistant Light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7766D48-B327-4EA1-AB54-F5FB673F19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38" d="100"/>
          <a:sy n="138" d="100"/>
        </p:scale>
        <p:origin x="834" y="1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f9aee584ec_2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7" name="Google Shape;357;g3f9aee584ec_2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9aee584ec_2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9" name="Google Shape;369;g3f9aee584ec_2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f9aee584ec_2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8" name="Google Shape;398;g3f9aee584ec_2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f9aee584ec_2_3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1" name="Google Shape;411;g3f9aee584ec_2_3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f9aee584ec_2_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6" name="Google Shape;416;g3f9aee584ec_2_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f9aee584ec_2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8" name="Google Shape;428;g3f9aee584ec_2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f9aee584ec_2_4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4" name="Google Shape;434;g3f9aee584ec_2_4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f9aee584ec_2_4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9" name="Google Shape;439;g3f9aee584ec_2_4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f9aee584ec_4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f9aee584ec_4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f9aee584ec_2_4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g3f9aee584ec_2_4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f9aee584ec_2_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4" name="Google Shape;464;g3f9aee584ec_2_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f9aee584ec_2_5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g3f9aee584ec_2_5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fb82cf06d1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fb82cf06d1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fb82cf06d1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3fb82cf06d1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3f9aee584ec_2_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7" name="Google Shape;537;g3f9aee584ec_2_5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4"/>
          <p:cNvGrpSpPr/>
          <p:nvPr/>
        </p:nvGrpSpPr>
        <p:grpSpPr>
          <a:xfrm rot="5400000">
            <a:off x="820475" y="-3148402"/>
            <a:ext cx="7333599" cy="9288401"/>
            <a:chOff x="992698" y="-3"/>
            <a:chExt cx="4102025" cy="5143934"/>
          </a:xfrm>
        </p:grpSpPr>
        <p:pic>
          <p:nvPicPr>
            <p:cNvPr id="55" name="Google Shape;55;p14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14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14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14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" name="Google Shape;59;p14"/>
          <p:cNvSpPr txBox="1">
            <a:spLocks noGrp="1"/>
          </p:cNvSpPr>
          <p:nvPr>
            <p:ph type="ctrTitle"/>
          </p:nvPr>
        </p:nvSpPr>
        <p:spPr>
          <a:xfrm>
            <a:off x="713225" y="919663"/>
            <a:ext cx="4382100" cy="26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0" name="Google Shape;60;p14"/>
          <p:cNvSpPr txBox="1">
            <a:spLocks noGrp="1"/>
          </p:cNvSpPr>
          <p:nvPr>
            <p:ph type="subTitle" idx="1"/>
          </p:nvPr>
        </p:nvSpPr>
        <p:spPr>
          <a:xfrm>
            <a:off x="713225" y="3620063"/>
            <a:ext cx="21915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14"/>
          <p:cNvSpPr>
            <a:spLocks noGrp="1"/>
          </p:cNvSpPr>
          <p:nvPr>
            <p:ph type="pic" idx="2"/>
          </p:nvPr>
        </p:nvSpPr>
        <p:spPr>
          <a:xfrm flipH="1">
            <a:off x="5729953" y="-14250"/>
            <a:ext cx="3434100" cy="5172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 rot="5400000" flipH="1">
            <a:off x="905200" y="-1243401"/>
            <a:ext cx="7333599" cy="9288401"/>
            <a:chOff x="992698" y="-3"/>
            <a:chExt cx="4102025" cy="5143934"/>
          </a:xfrm>
        </p:grpSpPr>
        <p:pic>
          <p:nvPicPr>
            <p:cNvPr id="64" name="Google Shape;64;p15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15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" name="Google Shape;66;p15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7" name="Google Shape;67;p15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69" name="Google Shape;69;p15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16"/>
          <p:cNvGrpSpPr/>
          <p:nvPr/>
        </p:nvGrpSpPr>
        <p:grpSpPr>
          <a:xfrm rot="5400000">
            <a:off x="905200" y="-1243402"/>
            <a:ext cx="7333599" cy="9288401"/>
            <a:chOff x="992698" y="-3"/>
            <a:chExt cx="4102025" cy="5143934"/>
          </a:xfrm>
        </p:grpSpPr>
        <p:pic>
          <p:nvPicPr>
            <p:cNvPr id="72" name="Google Shape;72;p16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6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4" name="Google Shape;74;p16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" name="Google Shape;75;p16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7" name="Google Shape;77;p16"/>
          <p:cNvSpPr txBox="1">
            <a:spLocks noGrp="1"/>
          </p:cNvSpPr>
          <p:nvPr>
            <p:ph type="subTitle" idx="1"/>
          </p:nvPr>
        </p:nvSpPr>
        <p:spPr>
          <a:xfrm>
            <a:off x="2208473" y="1495166"/>
            <a:ext cx="2231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>
            <a:spLocks noGrp="1"/>
          </p:cNvSpPr>
          <p:nvPr>
            <p:ph type="subTitle" idx="2"/>
          </p:nvPr>
        </p:nvSpPr>
        <p:spPr>
          <a:xfrm>
            <a:off x="5638108" y="1495178"/>
            <a:ext cx="2231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>
            <a:spLocks noGrp="1"/>
          </p:cNvSpPr>
          <p:nvPr>
            <p:ph type="subTitle" idx="3"/>
          </p:nvPr>
        </p:nvSpPr>
        <p:spPr>
          <a:xfrm>
            <a:off x="5638108" y="2625216"/>
            <a:ext cx="2231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6"/>
          <p:cNvSpPr txBox="1">
            <a:spLocks noGrp="1"/>
          </p:cNvSpPr>
          <p:nvPr>
            <p:ph type="subTitle" idx="4"/>
          </p:nvPr>
        </p:nvSpPr>
        <p:spPr>
          <a:xfrm>
            <a:off x="2208473" y="2625216"/>
            <a:ext cx="2231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6"/>
          <p:cNvSpPr txBox="1">
            <a:spLocks noGrp="1"/>
          </p:cNvSpPr>
          <p:nvPr>
            <p:ph type="title" idx="5"/>
          </p:nvPr>
        </p:nvSpPr>
        <p:spPr>
          <a:xfrm>
            <a:off x="1297892" y="148755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2" name="Google Shape;82;p16"/>
          <p:cNvSpPr txBox="1">
            <a:spLocks noGrp="1"/>
          </p:cNvSpPr>
          <p:nvPr>
            <p:ph type="title" idx="6"/>
          </p:nvPr>
        </p:nvSpPr>
        <p:spPr>
          <a:xfrm>
            <a:off x="4731212" y="264055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3" name="Google Shape;83;p16"/>
          <p:cNvSpPr txBox="1">
            <a:spLocks noGrp="1"/>
          </p:cNvSpPr>
          <p:nvPr>
            <p:ph type="title" idx="7"/>
          </p:nvPr>
        </p:nvSpPr>
        <p:spPr>
          <a:xfrm>
            <a:off x="4731212" y="148755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4" name="Google Shape;84;p16"/>
          <p:cNvSpPr txBox="1">
            <a:spLocks noGrp="1"/>
          </p:cNvSpPr>
          <p:nvPr>
            <p:ph type="title" idx="8"/>
          </p:nvPr>
        </p:nvSpPr>
        <p:spPr>
          <a:xfrm>
            <a:off x="1297892" y="264055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5" name="Google Shape;85;p16"/>
          <p:cNvSpPr txBox="1">
            <a:spLocks noGrp="1"/>
          </p:cNvSpPr>
          <p:nvPr>
            <p:ph type="subTitle" idx="9"/>
          </p:nvPr>
        </p:nvSpPr>
        <p:spPr>
          <a:xfrm>
            <a:off x="5638108" y="3755266"/>
            <a:ext cx="2231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6"/>
          <p:cNvSpPr txBox="1">
            <a:spLocks noGrp="1"/>
          </p:cNvSpPr>
          <p:nvPr>
            <p:ph type="subTitle" idx="13"/>
          </p:nvPr>
        </p:nvSpPr>
        <p:spPr>
          <a:xfrm>
            <a:off x="2208473" y="3755266"/>
            <a:ext cx="22311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6"/>
          <p:cNvSpPr txBox="1">
            <a:spLocks noGrp="1"/>
          </p:cNvSpPr>
          <p:nvPr>
            <p:ph type="title" idx="14"/>
          </p:nvPr>
        </p:nvSpPr>
        <p:spPr>
          <a:xfrm>
            <a:off x="4731212" y="377060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8" name="Google Shape;88;p16"/>
          <p:cNvSpPr txBox="1">
            <a:spLocks noGrp="1"/>
          </p:cNvSpPr>
          <p:nvPr>
            <p:ph type="title" idx="15"/>
          </p:nvPr>
        </p:nvSpPr>
        <p:spPr>
          <a:xfrm>
            <a:off x="1297892" y="377060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9" name="Google Shape;89;p16"/>
          <p:cNvSpPr txBox="1">
            <a:spLocks noGrp="1"/>
          </p:cNvSpPr>
          <p:nvPr>
            <p:ph type="subTitle" idx="16"/>
          </p:nvPr>
        </p:nvSpPr>
        <p:spPr>
          <a:xfrm>
            <a:off x="2208473" y="1318829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0" name="Google Shape;90;p16"/>
          <p:cNvSpPr txBox="1">
            <a:spLocks noGrp="1"/>
          </p:cNvSpPr>
          <p:nvPr>
            <p:ph type="subTitle" idx="17"/>
          </p:nvPr>
        </p:nvSpPr>
        <p:spPr>
          <a:xfrm>
            <a:off x="5638108" y="1318836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1" name="Google Shape;91;p16"/>
          <p:cNvSpPr txBox="1">
            <a:spLocks noGrp="1"/>
          </p:cNvSpPr>
          <p:nvPr>
            <p:ph type="subTitle" idx="18"/>
          </p:nvPr>
        </p:nvSpPr>
        <p:spPr>
          <a:xfrm>
            <a:off x="5638108" y="2448886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2" name="Google Shape;92;p16"/>
          <p:cNvSpPr txBox="1">
            <a:spLocks noGrp="1"/>
          </p:cNvSpPr>
          <p:nvPr>
            <p:ph type="subTitle" idx="19"/>
          </p:nvPr>
        </p:nvSpPr>
        <p:spPr>
          <a:xfrm>
            <a:off x="2208473" y="2448879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3" name="Google Shape;93;p16"/>
          <p:cNvSpPr txBox="1">
            <a:spLocks noGrp="1"/>
          </p:cNvSpPr>
          <p:nvPr>
            <p:ph type="subTitle" idx="20"/>
          </p:nvPr>
        </p:nvSpPr>
        <p:spPr>
          <a:xfrm>
            <a:off x="5638108" y="3578929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94" name="Google Shape;94;p16"/>
          <p:cNvSpPr txBox="1">
            <a:spLocks noGrp="1"/>
          </p:cNvSpPr>
          <p:nvPr>
            <p:ph type="subTitle" idx="21"/>
          </p:nvPr>
        </p:nvSpPr>
        <p:spPr>
          <a:xfrm>
            <a:off x="2208473" y="3578929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95" name="Google Shape;95;p16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oogle Shape;97;p17"/>
          <p:cNvGrpSpPr/>
          <p:nvPr/>
        </p:nvGrpSpPr>
        <p:grpSpPr>
          <a:xfrm rot="5400000" flipH="1">
            <a:off x="971373" y="-1014801"/>
            <a:ext cx="7333599" cy="9288401"/>
            <a:chOff x="992698" y="-3"/>
            <a:chExt cx="4102025" cy="5143934"/>
          </a:xfrm>
        </p:grpSpPr>
        <p:pic>
          <p:nvPicPr>
            <p:cNvPr id="98" name="Google Shape;98;p17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17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17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7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" name="Google Shape;102;p17"/>
          <p:cNvSpPr txBox="1">
            <a:spLocks noGrp="1"/>
          </p:cNvSpPr>
          <p:nvPr>
            <p:ph type="title"/>
          </p:nvPr>
        </p:nvSpPr>
        <p:spPr>
          <a:xfrm>
            <a:off x="742800" y="2550700"/>
            <a:ext cx="41277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3" name="Google Shape;103;p17"/>
          <p:cNvSpPr txBox="1">
            <a:spLocks noGrp="1"/>
          </p:cNvSpPr>
          <p:nvPr>
            <p:ph type="title" idx="2"/>
          </p:nvPr>
        </p:nvSpPr>
        <p:spPr>
          <a:xfrm>
            <a:off x="742800" y="1563284"/>
            <a:ext cx="1097400" cy="71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04" name="Google Shape;104;p17"/>
          <p:cNvSpPr txBox="1">
            <a:spLocks noGrp="1"/>
          </p:cNvSpPr>
          <p:nvPr>
            <p:ph type="subTitle" idx="1"/>
          </p:nvPr>
        </p:nvSpPr>
        <p:spPr>
          <a:xfrm>
            <a:off x="742800" y="3406675"/>
            <a:ext cx="41277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7"/>
          <p:cNvSpPr>
            <a:spLocks noGrp="1"/>
          </p:cNvSpPr>
          <p:nvPr>
            <p:ph type="pic" idx="3"/>
          </p:nvPr>
        </p:nvSpPr>
        <p:spPr>
          <a:xfrm flipH="1">
            <a:off x="5727454" y="-14250"/>
            <a:ext cx="3434100" cy="5172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_1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8"/>
          <p:cNvGrpSpPr/>
          <p:nvPr/>
        </p:nvGrpSpPr>
        <p:grpSpPr>
          <a:xfrm rot="5400000" flipH="1">
            <a:off x="905200" y="-1243401"/>
            <a:ext cx="7333599" cy="9288401"/>
            <a:chOff x="992698" y="-3"/>
            <a:chExt cx="4102025" cy="5143934"/>
          </a:xfrm>
        </p:grpSpPr>
        <p:pic>
          <p:nvPicPr>
            <p:cNvPr id="108" name="Google Shape;108;p18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8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18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1" name="Google Shape;111;p18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" name="Google Shape;112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" name="Google Shape;113;p18"/>
          <p:cNvSpPr txBox="1">
            <a:spLocks noGrp="1"/>
          </p:cNvSpPr>
          <p:nvPr>
            <p:ph type="subTitle" idx="1"/>
          </p:nvPr>
        </p:nvSpPr>
        <p:spPr>
          <a:xfrm>
            <a:off x="720000" y="1505182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>
            <a:spLocks noGrp="1"/>
          </p:cNvSpPr>
          <p:nvPr>
            <p:ph type="subTitle" idx="2"/>
          </p:nvPr>
        </p:nvSpPr>
        <p:spPr>
          <a:xfrm>
            <a:off x="720000" y="2617361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8"/>
          <p:cNvSpPr txBox="1">
            <a:spLocks noGrp="1"/>
          </p:cNvSpPr>
          <p:nvPr>
            <p:ph type="subTitle" idx="3"/>
          </p:nvPr>
        </p:nvSpPr>
        <p:spPr>
          <a:xfrm>
            <a:off x="720000" y="3737861"/>
            <a:ext cx="7704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8"/>
          <p:cNvSpPr txBox="1">
            <a:spLocks noGrp="1"/>
          </p:cNvSpPr>
          <p:nvPr>
            <p:ph type="subTitle" idx="4"/>
          </p:nvPr>
        </p:nvSpPr>
        <p:spPr>
          <a:xfrm>
            <a:off x="720000" y="1241271"/>
            <a:ext cx="770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7" name="Google Shape;117;p18"/>
          <p:cNvSpPr txBox="1">
            <a:spLocks noGrp="1"/>
          </p:cNvSpPr>
          <p:nvPr>
            <p:ph type="subTitle" idx="5"/>
          </p:nvPr>
        </p:nvSpPr>
        <p:spPr>
          <a:xfrm>
            <a:off x="720000" y="2350125"/>
            <a:ext cx="770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18" name="Google Shape;118;p18"/>
          <p:cNvSpPr txBox="1">
            <a:spLocks noGrp="1"/>
          </p:cNvSpPr>
          <p:nvPr>
            <p:ph type="subTitle" idx="6"/>
          </p:nvPr>
        </p:nvSpPr>
        <p:spPr>
          <a:xfrm>
            <a:off x="720000" y="3470625"/>
            <a:ext cx="770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119" name="Google Shape;119;p18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9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122" name="Google Shape;122;p19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19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4" name="Google Shape;124;p19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5" name="Google Shape;125;p19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6" name="Google Shape;126;p19"/>
          <p:cNvGrpSpPr/>
          <p:nvPr/>
        </p:nvGrpSpPr>
        <p:grpSpPr>
          <a:xfrm rot="-5400000">
            <a:off x="818974" y="-862401"/>
            <a:ext cx="7333599" cy="9288401"/>
            <a:chOff x="992698" y="-3"/>
            <a:chExt cx="4102025" cy="5143934"/>
          </a:xfrm>
        </p:grpSpPr>
        <p:pic>
          <p:nvPicPr>
            <p:cNvPr id="127" name="Google Shape;127;p19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8" name="Google Shape;128;p19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19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" name="Google Shape;130;p19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" name="Google Shape;131;p19"/>
          <p:cNvSpPr>
            <a:spLocks noGrp="1"/>
          </p:cNvSpPr>
          <p:nvPr>
            <p:ph type="pic" idx="2"/>
          </p:nvPr>
        </p:nvSpPr>
        <p:spPr>
          <a:xfrm flipH="1">
            <a:off x="-97850" y="-14251"/>
            <a:ext cx="3434100" cy="51720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2" name="Google Shape;132;p19"/>
          <p:cNvGrpSpPr/>
          <p:nvPr/>
        </p:nvGrpSpPr>
        <p:grpSpPr>
          <a:xfrm>
            <a:off x="1556750" y="-265299"/>
            <a:ext cx="5928976" cy="5409350"/>
            <a:chOff x="992699" y="1"/>
            <a:chExt cx="5928976" cy="5143924"/>
          </a:xfrm>
        </p:grpSpPr>
        <p:pic>
          <p:nvPicPr>
            <p:cNvPr id="133" name="Google Shape;133;p19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19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5" name="Google Shape;135;p19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9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7" name="Google Shape;137;p19"/>
          <p:cNvSpPr txBox="1">
            <a:spLocks noGrp="1"/>
          </p:cNvSpPr>
          <p:nvPr>
            <p:ph type="title"/>
          </p:nvPr>
        </p:nvSpPr>
        <p:spPr>
          <a:xfrm>
            <a:off x="3614600" y="3369850"/>
            <a:ext cx="4572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8" name="Google Shape;138;p19"/>
          <p:cNvSpPr txBox="1">
            <a:spLocks noGrp="1"/>
          </p:cNvSpPr>
          <p:nvPr>
            <p:ph type="subTitle" idx="1"/>
          </p:nvPr>
        </p:nvSpPr>
        <p:spPr>
          <a:xfrm>
            <a:off x="3614600" y="1224950"/>
            <a:ext cx="4572600" cy="219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cxnSp>
        <p:nvCxnSpPr>
          <p:cNvPr id="139" name="Google Shape;139;p19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20"/>
          <p:cNvGrpSpPr/>
          <p:nvPr/>
        </p:nvGrpSpPr>
        <p:grpSpPr>
          <a:xfrm rot="5400000" flipH="1">
            <a:off x="818973" y="-1243401"/>
            <a:ext cx="7333599" cy="9288401"/>
            <a:chOff x="992698" y="-3"/>
            <a:chExt cx="4102025" cy="5143934"/>
          </a:xfrm>
        </p:grpSpPr>
        <p:pic>
          <p:nvPicPr>
            <p:cNvPr id="142" name="Google Shape;142;p20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20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20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20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6" name="Google Shape;146;p20"/>
          <p:cNvSpPr txBox="1">
            <a:spLocks noGrp="1"/>
          </p:cNvSpPr>
          <p:nvPr>
            <p:ph type="title" hasCustomPrompt="1"/>
          </p:nvPr>
        </p:nvSpPr>
        <p:spPr>
          <a:xfrm>
            <a:off x="716925" y="1811602"/>
            <a:ext cx="4449600" cy="96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47" name="Google Shape;147;p20"/>
          <p:cNvSpPr txBox="1">
            <a:spLocks noGrp="1"/>
          </p:cNvSpPr>
          <p:nvPr>
            <p:ph type="subTitle" idx="1"/>
          </p:nvPr>
        </p:nvSpPr>
        <p:spPr>
          <a:xfrm>
            <a:off x="716921" y="2720588"/>
            <a:ext cx="444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8" name="Google Shape;148;p20"/>
          <p:cNvSpPr>
            <a:spLocks noGrp="1"/>
          </p:cNvSpPr>
          <p:nvPr>
            <p:ph type="pic" idx="2"/>
          </p:nvPr>
        </p:nvSpPr>
        <p:spPr>
          <a:xfrm flipH="1">
            <a:off x="5727454" y="-14250"/>
            <a:ext cx="3434100" cy="5172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21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151" name="Google Shape;151;p21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21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21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4" name="Google Shape;154;p21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3595200" y="803021"/>
            <a:ext cx="4696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6" name="Google Shape;156;p21"/>
          <p:cNvSpPr txBox="1">
            <a:spLocks noGrp="1"/>
          </p:cNvSpPr>
          <p:nvPr>
            <p:ph type="subTitle" idx="1"/>
          </p:nvPr>
        </p:nvSpPr>
        <p:spPr>
          <a:xfrm>
            <a:off x="3595200" y="1347592"/>
            <a:ext cx="4696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21"/>
          <p:cNvSpPr txBox="1">
            <a:spLocks noGrp="1"/>
          </p:cNvSpPr>
          <p:nvPr>
            <p:ph type="title" idx="2"/>
          </p:nvPr>
        </p:nvSpPr>
        <p:spPr>
          <a:xfrm>
            <a:off x="3595200" y="2116602"/>
            <a:ext cx="4696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8" name="Google Shape;158;p21"/>
          <p:cNvSpPr txBox="1">
            <a:spLocks noGrp="1"/>
          </p:cNvSpPr>
          <p:nvPr>
            <p:ph type="subTitle" idx="3"/>
          </p:nvPr>
        </p:nvSpPr>
        <p:spPr>
          <a:xfrm>
            <a:off x="3595200" y="2661173"/>
            <a:ext cx="4696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21"/>
          <p:cNvSpPr txBox="1">
            <a:spLocks noGrp="1"/>
          </p:cNvSpPr>
          <p:nvPr>
            <p:ph type="title" idx="4"/>
          </p:nvPr>
        </p:nvSpPr>
        <p:spPr>
          <a:xfrm>
            <a:off x="3595200" y="3430208"/>
            <a:ext cx="4696800" cy="7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" name="Google Shape;160;p21"/>
          <p:cNvSpPr txBox="1">
            <a:spLocks noGrp="1"/>
          </p:cNvSpPr>
          <p:nvPr>
            <p:ph type="subTitle" idx="5"/>
          </p:nvPr>
        </p:nvSpPr>
        <p:spPr>
          <a:xfrm>
            <a:off x="3595200" y="3974779"/>
            <a:ext cx="4696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21"/>
          <p:cNvSpPr>
            <a:spLocks noGrp="1"/>
          </p:cNvSpPr>
          <p:nvPr>
            <p:ph type="pic" idx="6"/>
          </p:nvPr>
        </p:nvSpPr>
        <p:spPr>
          <a:xfrm flipH="1">
            <a:off x="0" y="-14250"/>
            <a:ext cx="3434100" cy="5172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62" name="Google Shape;162;p21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9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22"/>
          <p:cNvGrpSpPr/>
          <p:nvPr/>
        </p:nvGrpSpPr>
        <p:grpSpPr>
          <a:xfrm rot="5400000" flipH="1">
            <a:off x="818973" y="-1243401"/>
            <a:ext cx="7333599" cy="9288401"/>
            <a:chOff x="992698" y="-3"/>
            <a:chExt cx="4102025" cy="5143934"/>
          </a:xfrm>
        </p:grpSpPr>
        <p:pic>
          <p:nvPicPr>
            <p:cNvPr id="165" name="Google Shape;165;p22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6" name="Google Shape;166;p22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22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22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9" name="Google Shape;169;p22"/>
          <p:cNvSpPr>
            <a:spLocks noGrp="1"/>
          </p:cNvSpPr>
          <p:nvPr>
            <p:ph type="pic" idx="2"/>
          </p:nvPr>
        </p:nvSpPr>
        <p:spPr>
          <a:xfrm flipH="1">
            <a:off x="5727454" y="-14250"/>
            <a:ext cx="3434100" cy="51720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22"/>
          <p:cNvSpPr txBox="1">
            <a:spLocks noGrp="1"/>
          </p:cNvSpPr>
          <p:nvPr>
            <p:ph type="title"/>
          </p:nvPr>
        </p:nvSpPr>
        <p:spPr>
          <a:xfrm>
            <a:off x="1368375" y="1298363"/>
            <a:ext cx="3528600" cy="17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1" name="Google Shape;171;p22"/>
          <p:cNvSpPr txBox="1">
            <a:spLocks noGrp="1"/>
          </p:cNvSpPr>
          <p:nvPr>
            <p:ph type="subTitle" idx="1"/>
          </p:nvPr>
        </p:nvSpPr>
        <p:spPr>
          <a:xfrm>
            <a:off x="1368374" y="2975265"/>
            <a:ext cx="3528600" cy="81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72" name="Google Shape;172;p22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3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23"/>
          <p:cNvSpPr txBox="1">
            <a:spLocks noGrp="1"/>
          </p:cNvSpPr>
          <p:nvPr>
            <p:ph type="title"/>
          </p:nvPr>
        </p:nvSpPr>
        <p:spPr>
          <a:xfrm>
            <a:off x="4795375" y="3464675"/>
            <a:ext cx="3635400" cy="114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76" name="Google Shape;176;p23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4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179" name="Google Shape;179;p24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24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24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24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24"/>
          <p:cNvSpPr>
            <a:spLocks noGrp="1"/>
          </p:cNvSpPr>
          <p:nvPr>
            <p:ph type="pic" idx="2"/>
          </p:nvPr>
        </p:nvSpPr>
        <p:spPr>
          <a:xfrm flipH="1">
            <a:off x="0" y="0"/>
            <a:ext cx="3434100" cy="51720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24"/>
          <p:cNvSpPr txBox="1">
            <a:spLocks noGrp="1"/>
          </p:cNvSpPr>
          <p:nvPr>
            <p:ph type="title"/>
          </p:nvPr>
        </p:nvSpPr>
        <p:spPr>
          <a:xfrm>
            <a:off x="4311450" y="1643550"/>
            <a:ext cx="3883500" cy="18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185" name="Google Shape;185;p24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6_1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25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188" name="Google Shape;188;p25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25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0" name="Google Shape;190;p25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1" name="Google Shape;191;p25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2" name="Google Shape;192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3" name="Google Shape;193;p25"/>
          <p:cNvSpPr txBox="1">
            <a:spLocks noGrp="1"/>
          </p:cNvSpPr>
          <p:nvPr>
            <p:ph type="subTitle" idx="1"/>
          </p:nvPr>
        </p:nvSpPr>
        <p:spPr>
          <a:xfrm>
            <a:off x="2076823" y="1441800"/>
            <a:ext cx="57627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5"/>
          <p:cNvSpPr txBox="1">
            <a:spLocks noGrp="1"/>
          </p:cNvSpPr>
          <p:nvPr>
            <p:ph type="subTitle" idx="2"/>
          </p:nvPr>
        </p:nvSpPr>
        <p:spPr>
          <a:xfrm>
            <a:off x="2076831" y="2604250"/>
            <a:ext cx="57627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25"/>
          <p:cNvSpPr txBox="1">
            <a:spLocks noGrp="1"/>
          </p:cNvSpPr>
          <p:nvPr>
            <p:ph type="subTitle" idx="3"/>
          </p:nvPr>
        </p:nvSpPr>
        <p:spPr>
          <a:xfrm>
            <a:off x="2076831" y="3772818"/>
            <a:ext cx="57627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5"/>
          <p:cNvSpPr txBox="1">
            <a:spLocks noGrp="1"/>
          </p:cNvSpPr>
          <p:nvPr>
            <p:ph type="subTitle" idx="4"/>
          </p:nvPr>
        </p:nvSpPr>
        <p:spPr>
          <a:xfrm>
            <a:off x="2076823" y="1177425"/>
            <a:ext cx="5762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7" name="Google Shape;197;p25"/>
          <p:cNvSpPr txBox="1">
            <a:spLocks noGrp="1"/>
          </p:cNvSpPr>
          <p:nvPr>
            <p:ph type="subTitle" idx="5"/>
          </p:nvPr>
        </p:nvSpPr>
        <p:spPr>
          <a:xfrm>
            <a:off x="2076823" y="2340901"/>
            <a:ext cx="5762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98" name="Google Shape;198;p25"/>
          <p:cNvSpPr txBox="1">
            <a:spLocks noGrp="1"/>
          </p:cNvSpPr>
          <p:nvPr>
            <p:ph type="subTitle" idx="6"/>
          </p:nvPr>
        </p:nvSpPr>
        <p:spPr>
          <a:xfrm>
            <a:off x="2076823" y="3503352"/>
            <a:ext cx="5762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199" name="Google Shape;199;p25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26"/>
          <p:cNvGrpSpPr/>
          <p:nvPr/>
        </p:nvGrpSpPr>
        <p:grpSpPr>
          <a:xfrm rot="5400000" flipH="1">
            <a:off x="905200" y="-1243401"/>
            <a:ext cx="7333599" cy="9288401"/>
            <a:chOff x="992698" y="-3"/>
            <a:chExt cx="4102025" cy="5143934"/>
          </a:xfrm>
        </p:grpSpPr>
        <p:pic>
          <p:nvPicPr>
            <p:cNvPr id="202" name="Google Shape;202;p26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26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26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26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6" name="Google Shape;206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7" name="Google Shape;207;p26"/>
          <p:cNvSpPr txBox="1">
            <a:spLocks noGrp="1"/>
          </p:cNvSpPr>
          <p:nvPr>
            <p:ph type="subTitle" idx="1"/>
          </p:nvPr>
        </p:nvSpPr>
        <p:spPr>
          <a:xfrm>
            <a:off x="828827" y="3136000"/>
            <a:ext cx="2240400" cy="8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6"/>
          <p:cNvSpPr txBox="1">
            <a:spLocks noGrp="1"/>
          </p:cNvSpPr>
          <p:nvPr>
            <p:ph type="subTitle" idx="2"/>
          </p:nvPr>
        </p:nvSpPr>
        <p:spPr>
          <a:xfrm>
            <a:off x="3451796" y="3136000"/>
            <a:ext cx="2240400" cy="8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6"/>
          <p:cNvSpPr txBox="1">
            <a:spLocks noGrp="1"/>
          </p:cNvSpPr>
          <p:nvPr>
            <p:ph type="subTitle" idx="3"/>
          </p:nvPr>
        </p:nvSpPr>
        <p:spPr>
          <a:xfrm>
            <a:off x="6074773" y="3136000"/>
            <a:ext cx="2240400" cy="8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6"/>
          <p:cNvSpPr txBox="1">
            <a:spLocks noGrp="1"/>
          </p:cNvSpPr>
          <p:nvPr>
            <p:ph type="subTitle" idx="4"/>
          </p:nvPr>
        </p:nvSpPr>
        <p:spPr>
          <a:xfrm>
            <a:off x="828827" y="2899150"/>
            <a:ext cx="2240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1" name="Google Shape;211;p26"/>
          <p:cNvSpPr txBox="1">
            <a:spLocks noGrp="1"/>
          </p:cNvSpPr>
          <p:nvPr>
            <p:ph type="subTitle" idx="5"/>
          </p:nvPr>
        </p:nvSpPr>
        <p:spPr>
          <a:xfrm>
            <a:off x="3451796" y="2899150"/>
            <a:ext cx="2240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2" name="Google Shape;212;p26"/>
          <p:cNvSpPr txBox="1">
            <a:spLocks noGrp="1"/>
          </p:cNvSpPr>
          <p:nvPr>
            <p:ph type="subTitle" idx="6"/>
          </p:nvPr>
        </p:nvSpPr>
        <p:spPr>
          <a:xfrm>
            <a:off x="6074773" y="2899150"/>
            <a:ext cx="2240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DM Sans"/>
              <a:buNone/>
              <a:defRPr sz="26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213" name="Google Shape;213;p26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4" name="Google Shape;214;p26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7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217" name="Google Shape;217;p27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27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9" name="Google Shape;219;p27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0" name="Google Shape;220;p27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1" name="Google Shape;221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2" name="Google Shape;222;p27"/>
          <p:cNvSpPr txBox="1">
            <a:spLocks noGrp="1"/>
          </p:cNvSpPr>
          <p:nvPr>
            <p:ph type="subTitle" idx="1"/>
          </p:nvPr>
        </p:nvSpPr>
        <p:spPr>
          <a:xfrm>
            <a:off x="1053002" y="2225404"/>
            <a:ext cx="2097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7"/>
          <p:cNvSpPr txBox="1">
            <a:spLocks noGrp="1"/>
          </p:cNvSpPr>
          <p:nvPr>
            <p:ph type="subTitle" idx="2"/>
          </p:nvPr>
        </p:nvSpPr>
        <p:spPr>
          <a:xfrm>
            <a:off x="3523350" y="2225404"/>
            <a:ext cx="2097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7"/>
          <p:cNvSpPr txBox="1">
            <a:spLocks noGrp="1"/>
          </p:cNvSpPr>
          <p:nvPr>
            <p:ph type="subTitle" idx="3"/>
          </p:nvPr>
        </p:nvSpPr>
        <p:spPr>
          <a:xfrm>
            <a:off x="1053002" y="4054485"/>
            <a:ext cx="2097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27"/>
          <p:cNvSpPr txBox="1">
            <a:spLocks noGrp="1"/>
          </p:cNvSpPr>
          <p:nvPr>
            <p:ph type="subTitle" idx="4"/>
          </p:nvPr>
        </p:nvSpPr>
        <p:spPr>
          <a:xfrm>
            <a:off x="3523350" y="4054485"/>
            <a:ext cx="2097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7"/>
          <p:cNvSpPr txBox="1">
            <a:spLocks noGrp="1"/>
          </p:cNvSpPr>
          <p:nvPr>
            <p:ph type="subTitle" idx="5"/>
          </p:nvPr>
        </p:nvSpPr>
        <p:spPr>
          <a:xfrm>
            <a:off x="5993698" y="2225404"/>
            <a:ext cx="2097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7"/>
          <p:cNvSpPr txBox="1">
            <a:spLocks noGrp="1"/>
          </p:cNvSpPr>
          <p:nvPr>
            <p:ph type="subTitle" idx="6"/>
          </p:nvPr>
        </p:nvSpPr>
        <p:spPr>
          <a:xfrm>
            <a:off x="5993698" y="4054485"/>
            <a:ext cx="20973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7"/>
          <p:cNvSpPr txBox="1">
            <a:spLocks noGrp="1"/>
          </p:cNvSpPr>
          <p:nvPr>
            <p:ph type="subTitle" idx="7"/>
          </p:nvPr>
        </p:nvSpPr>
        <p:spPr>
          <a:xfrm>
            <a:off x="1051352" y="1961575"/>
            <a:ext cx="210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9" name="Google Shape;229;p27"/>
          <p:cNvSpPr txBox="1">
            <a:spLocks noGrp="1"/>
          </p:cNvSpPr>
          <p:nvPr>
            <p:ph type="subTitle" idx="8"/>
          </p:nvPr>
        </p:nvSpPr>
        <p:spPr>
          <a:xfrm>
            <a:off x="3521700" y="1961575"/>
            <a:ext cx="210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0" name="Google Shape;230;p27"/>
          <p:cNvSpPr txBox="1">
            <a:spLocks noGrp="1"/>
          </p:cNvSpPr>
          <p:nvPr>
            <p:ph type="subTitle" idx="9"/>
          </p:nvPr>
        </p:nvSpPr>
        <p:spPr>
          <a:xfrm>
            <a:off x="5992048" y="1961575"/>
            <a:ext cx="210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1" name="Google Shape;231;p27"/>
          <p:cNvSpPr txBox="1">
            <a:spLocks noGrp="1"/>
          </p:cNvSpPr>
          <p:nvPr>
            <p:ph type="subTitle" idx="13"/>
          </p:nvPr>
        </p:nvSpPr>
        <p:spPr>
          <a:xfrm>
            <a:off x="1051352" y="3790460"/>
            <a:ext cx="210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2" name="Google Shape;232;p27"/>
          <p:cNvSpPr txBox="1">
            <a:spLocks noGrp="1"/>
          </p:cNvSpPr>
          <p:nvPr>
            <p:ph type="subTitle" idx="14"/>
          </p:nvPr>
        </p:nvSpPr>
        <p:spPr>
          <a:xfrm>
            <a:off x="3521700" y="3790460"/>
            <a:ext cx="210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33" name="Google Shape;233;p27"/>
          <p:cNvSpPr txBox="1">
            <a:spLocks noGrp="1"/>
          </p:cNvSpPr>
          <p:nvPr>
            <p:ph type="subTitle" idx="15"/>
          </p:nvPr>
        </p:nvSpPr>
        <p:spPr>
          <a:xfrm>
            <a:off x="5992048" y="3790460"/>
            <a:ext cx="2100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234" name="Google Shape;234;p27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28"/>
          <p:cNvGrpSpPr/>
          <p:nvPr/>
        </p:nvGrpSpPr>
        <p:grpSpPr>
          <a:xfrm rot="5400000" flipH="1">
            <a:off x="818973" y="-1243401"/>
            <a:ext cx="7333599" cy="9288401"/>
            <a:chOff x="992698" y="-3"/>
            <a:chExt cx="4102025" cy="5143934"/>
          </a:xfrm>
        </p:grpSpPr>
        <p:pic>
          <p:nvPicPr>
            <p:cNvPr id="237" name="Google Shape;237;p28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28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28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28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1" name="Google Shape;241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2" name="Google Shape;242;p28"/>
          <p:cNvSpPr txBox="1">
            <a:spLocks noGrp="1"/>
          </p:cNvSpPr>
          <p:nvPr>
            <p:ph type="body" idx="1"/>
          </p:nvPr>
        </p:nvSpPr>
        <p:spPr>
          <a:xfrm>
            <a:off x="962850" y="1139550"/>
            <a:ext cx="7218300" cy="32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ssistant Light"/>
              <a:buChar char="●"/>
              <a:defRPr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cxnSp>
        <p:nvCxnSpPr>
          <p:cNvPr id="243" name="Google Shape;243;p28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0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29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246" name="Google Shape;246;p29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29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29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29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0" name="Google Shape;250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51" name="Google Shape;251;p29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0_1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oogle Shape;253;p30"/>
          <p:cNvGrpSpPr/>
          <p:nvPr/>
        </p:nvGrpSpPr>
        <p:grpSpPr>
          <a:xfrm rot="5400000" flipH="1">
            <a:off x="922015" y="-1243401"/>
            <a:ext cx="7333599" cy="9288401"/>
            <a:chOff x="992698" y="-3"/>
            <a:chExt cx="4102025" cy="5143934"/>
          </a:xfrm>
        </p:grpSpPr>
        <p:pic>
          <p:nvPicPr>
            <p:cNvPr id="254" name="Google Shape;254;p30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30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" name="Google Shape;256;p30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30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8" name="Google Shape;258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59" name="Google Shape;259;p30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0_1_1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62" name="Google Shape;262;p31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63" name="Google Shape;263;p31"/>
          <p:cNvGrpSpPr/>
          <p:nvPr/>
        </p:nvGrpSpPr>
        <p:grpSpPr>
          <a:xfrm rot="5400000">
            <a:off x="818973" y="-1243402"/>
            <a:ext cx="7333599" cy="9288401"/>
            <a:chOff x="992698" y="-3"/>
            <a:chExt cx="4102025" cy="5143934"/>
          </a:xfrm>
        </p:grpSpPr>
        <p:pic>
          <p:nvPicPr>
            <p:cNvPr id="264" name="Google Shape;264;p31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31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31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" name="Google Shape;267;p31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32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270" name="Google Shape;270;p32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1" name="Google Shape;271;p32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2" name="Google Shape;272;p32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3" name="Google Shape;273;p32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4" name="Google Shape;274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5" name="Google Shape;275;p32"/>
          <p:cNvSpPr txBox="1">
            <a:spLocks noGrp="1"/>
          </p:cNvSpPr>
          <p:nvPr>
            <p:ph type="subTitle" idx="1"/>
          </p:nvPr>
        </p:nvSpPr>
        <p:spPr>
          <a:xfrm>
            <a:off x="4652965" y="1758722"/>
            <a:ext cx="3779400" cy="27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276" name="Google Shape;276;p32"/>
          <p:cNvSpPr txBox="1">
            <a:spLocks noGrp="1"/>
          </p:cNvSpPr>
          <p:nvPr>
            <p:ph type="subTitle" idx="2"/>
          </p:nvPr>
        </p:nvSpPr>
        <p:spPr>
          <a:xfrm>
            <a:off x="711638" y="1758722"/>
            <a:ext cx="3779400" cy="27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 b="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277" name="Google Shape;277;p32"/>
          <p:cNvSpPr txBox="1">
            <a:spLocks noGrp="1"/>
          </p:cNvSpPr>
          <p:nvPr>
            <p:ph type="subTitle" idx="3"/>
          </p:nvPr>
        </p:nvSpPr>
        <p:spPr>
          <a:xfrm>
            <a:off x="711638" y="1367075"/>
            <a:ext cx="3779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78" name="Google Shape;278;p32"/>
          <p:cNvSpPr txBox="1">
            <a:spLocks noGrp="1"/>
          </p:cNvSpPr>
          <p:nvPr>
            <p:ph type="subTitle" idx="4"/>
          </p:nvPr>
        </p:nvSpPr>
        <p:spPr>
          <a:xfrm>
            <a:off x="4652965" y="1367075"/>
            <a:ext cx="3779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279" name="Google Shape;279;p32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1" name="Google Shape;281;p33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282" name="Google Shape;282;p33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3" name="Google Shape;283;p33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4" name="Google Shape;284;p33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5" name="Google Shape;285;p33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86" name="Google Shape;286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7" name="Google Shape;287;p33"/>
          <p:cNvSpPr txBox="1">
            <a:spLocks noGrp="1"/>
          </p:cNvSpPr>
          <p:nvPr>
            <p:ph type="subTitle" idx="1"/>
          </p:nvPr>
        </p:nvSpPr>
        <p:spPr>
          <a:xfrm>
            <a:off x="1929789" y="1621084"/>
            <a:ext cx="2391300" cy="9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3"/>
          <p:cNvSpPr txBox="1">
            <a:spLocks noGrp="1"/>
          </p:cNvSpPr>
          <p:nvPr>
            <p:ph type="subTitle" idx="2"/>
          </p:nvPr>
        </p:nvSpPr>
        <p:spPr>
          <a:xfrm>
            <a:off x="5699472" y="1621084"/>
            <a:ext cx="2391300" cy="9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33"/>
          <p:cNvSpPr txBox="1">
            <a:spLocks noGrp="1"/>
          </p:cNvSpPr>
          <p:nvPr>
            <p:ph type="subTitle" idx="3"/>
          </p:nvPr>
        </p:nvSpPr>
        <p:spPr>
          <a:xfrm>
            <a:off x="1929789" y="3205075"/>
            <a:ext cx="2391300" cy="9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33"/>
          <p:cNvSpPr txBox="1">
            <a:spLocks noGrp="1"/>
          </p:cNvSpPr>
          <p:nvPr>
            <p:ph type="subTitle" idx="4"/>
          </p:nvPr>
        </p:nvSpPr>
        <p:spPr>
          <a:xfrm>
            <a:off x="5699472" y="3205075"/>
            <a:ext cx="2391300" cy="91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33"/>
          <p:cNvSpPr txBox="1">
            <a:spLocks noGrp="1"/>
          </p:cNvSpPr>
          <p:nvPr>
            <p:ph type="subTitle" idx="5"/>
          </p:nvPr>
        </p:nvSpPr>
        <p:spPr>
          <a:xfrm>
            <a:off x="1929789" y="1444575"/>
            <a:ext cx="2391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2" name="Google Shape;292;p33"/>
          <p:cNvSpPr txBox="1">
            <a:spLocks noGrp="1"/>
          </p:cNvSpPr>
          <p:nvPr>
            <p:ph type="subTitle" idx="6"/>
          </p:nvPr>
        </p:nvSpPr>
        <p:spPr>
          <a:xfrm>
            <a:off x="5699472" y="1444575"/>
            <a:ext cx="2391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3" name="Google Shape;293;p33"/>
          <p:cNvSpPr txBox="1">
            <a:spLocks noGrp="1"/>
          </p:cNvSpPr>
          <p:nvPr>
            <p:ph type="subTitle" idx="7"/>
          </p:nvPr>
        </p:nvSpPr>
        <p:spPr>
          <a:xfrm>
            <a:off x="1929789" y="3028566"/>
            <a:ext cx="2391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4" name="Google Shape;294;p33"/>
          <p:cNvSpPr txBox="1">
            <a:spLocks noGrp="1"/>
          </p:cNvSpPr>
          <p:nvPr>
            <p:ph type="subTitle" idx="8"/>
          </p:nvPr>
        </p:nvSpPr>
        <p:spPr>
          <a:xfrm>
            <a:off x="5699472" y="3028566"/>
            <a:ext cx="23913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>
                <a:latin typeface="Figtree SemiBold"/>
                <a:ea typeface="Figtree SemiBold"/>
                <a:cs typeface="Figtree SemiBold"/>
                <a:sym typeface="Figtree SemiBold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cxnSp>
        <p:nvCxnSpPr>
          <p:cNvPr id="295" name="Google Shape;295;p33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" name="Google Shape;297;p34"/>
          <p:cNvGrpSpPr/>
          <p:nvPr/>
        </p:nvGrpSpPr>
        <p:grpSpPr>
          <a:xfrm rot="5400000" flipH="1">
            <a:off x="818973" y="-1243401"/>
            <a:ext cx="7333599" cy="9288401"/>
            <a:chOff x="992698" y="-3"/>
            <a:chExt cx="4102025" cy="5143934"/>
          </a:xfrm>
        </p:grpSpPr>
        <p:pic>
          <p:nvPicPr>
            <p:cNvPr id="298" name="Google Shape;298;p34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9" name="Google Shape;299;p34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0" name="Google Shape;300;p34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1" name="Google Shape;301;p34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02" name="Google Shape;302;p34"/>
          <p:cNvSpPr>
            <a:spLocks noGrp="1"/>
          </p:cNvSpPr>
          <p:nvPr>
            <p:ph type="pic" idx="2"/>
          </p:nvPr>
        </p:nvSpPr>
        <p:spPr>
          <a:xfrm flipH="1">
            <a:off x="5727454" y="-14250"/>
            <a:ext cx="3434100" cy="51720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34"/>
          <p:cNvSpPr txBox="1">
            <a:spLocks noGrp="1"/>
          </p:cNvSpPr>
          <p:nvPr>
            <p:ph type="title"/>
          </p:nvPr>
        </p:nvSpPr>
        <p:spPr>
          <a:xfrm>
            <a:off x="720000" y="448056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4" name="Google Shape;304;p34"/>
          <p:cNvSpPr txBox="1">
            <a:spLocks noGrp="1"/>
          </p:cNvSpPr>
          <p:nvPr>
            <p:ph type="subTitle" idx="1"/>
          </p:nvPr>
        </p:nvSpPr>
        <p:spPr>
          <a:xfrm>
            <a:off x="720000" y="1347250"/>
            <a:ext cx="4883700" cy="29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Light"/>
              <a:buChar char="●"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cxnSp>
        <p:nvCxnSpPr>
          <p:cNvPr id="305" name="Google Shape;305;p34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35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308" name="Google Shape;308;p35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35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35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35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5"/>
          <p:cNvSpPr txBox="1">
            <a:spLocks noGrp="1"/>
          </p:cNvSpPr>
          <p:nvPr>
            <p:ph type="title"/>
          </p:nvPr>
        </p:nvSpPr>
        <p:spPr>
          <a:xfrm flipH="1">
            <a:off x="713190" y="1834050"/>
            <a:ext cx="2868900" cy="4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3" name="Google Shape;313;p35"/>
          <p:cNvSpPr txBox="1">
            <a:spLocks noGrp="1"/>
          </p:cNvSpPr>
          <p:nvPr>
            <p:ph type="subTitle" idx="1"/>
          </p:nvPr>
        </p:nvSpPr>
        <p:spPr>
          <a:xfrm flipH="1">
            <a:off x="713190" y="2211450"/>
            <a:ext cx="28689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14" name="Google Shape;314;p35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6" name="Google Shape;316;p36"/>
          <p:cNvGrpSpPr/>
          <p:nvPr/>
        </p:nvGrpSpPr>
        <p:grpSpPr>
          <a:xfrm rot="5400000" flipH="1">
            <a:off x="818973" y="-710001"/>
            <a:ext cx="7333599" cy="9288401"/>
            <a:chOff x="992698" y="-3"/>
            <a:chExt cx="4102025" cy="5143934"/>
          </a:xfrm>
        </p:grpSpPr>
        <p:pic>
          <p:nvPicPr>
            <p:cNvPr id="317" name="Google Shape;317;p36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36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p36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36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1" name="Google Shape;321;p36"/>
          <p:cNvGrpSpPr/>
          <p:nvPr/>
        </p:nvGrpSpPr>
        <p:grpSpPr>
          <a:xfrm rot="5400000" flipH="1">
            <a:off x="818973" y="-1243401"/>
            <a:ext cx="7333599" cy="9288401"/>
            <a:chOff x="992698" y="-3"/>
            <a:chExt cx="4102025" cy="5143934"/>
          </a:xfrm>
        </p:grpSpPr>
        <p:pic>
          <p:nvPicPr>
            <p:cNvPr id="322" name="Google Shape;322;p36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3" name="Google Shape;323;p36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" name="Google Shape;324;p36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p36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6" name="Google Shape;326;p36"/>
          <p:cNvSpPr txBox="1">
            <a:spLocks noGrp="1"/>
          </p:cNvSpPr>
          <p:nvPr>
            <p:ph type="title"/>
          </p:nvPr>
        </p:nvSpPr>
        <p:spPr>
          <a:xfrm>
            <a:off x="726900" y="540000"/>
            <a:ext cx="4448100" cy="1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7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7" name="Google Shape;327;p36"/>
          <p:cNvSpPr txBox="1">
            <a:spLocks noGrp="1"/>
          </p:cNvSpPr>
          <p:nvPr>
            <p:ph type="subTitle" idx="1"/>
          </p:nvPr>
        </p:nvSpPr>
        <p:spPr>
          <a:xfrm>
            <a:off x="726900" y="1618250"/>
            <a:ext cx="4448100" cy="11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8" name="Google Shape;328;p36"/>
          <p:cNvSpPr txBox="1"/>
          <p:nvPr/>
        </p:nvSpPr>
        <p:spPr>
          <a:xfrm>
            <a:off x="726900" y="35357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CREDITS: This presentation template was created by </a:t>
            </a:r>
            <a:r>
              <a:rPr lang="en-GB" sz="1200" b="1" i="0" u="sng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3"/>
              </a:rPr>
              <a:t>Slidesgo</a:t>
            </a:r>
            <a:r>
              <a:rPr lang="en-GB" sz="1200" b="1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en-GB"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and includes icons by</a:t>
            </a:r>
            <a:r>
              <a:rPr lang="en-GB" sz="1200" b="1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GB" sz="1200" b="1" i="0" u="sng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4"/>
              </a:rPr>
              <a:t>Flaticon</a:t>
            </a:r>
            <a:r>
              <a:rPr lang="en-GB" sz="1200" b="1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</a:t>
            </a:r>
            <a:r>
              <a:rPr lang="en-GB"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and infographics &amp; images by </a:t>
            </a:r>
            <a:r>
              <a:rPr lang="en-GB" sz="1200" b="1" i="0" u="sng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  <a:hlinkClick r:id="rId5"/>
              </a:rPr>
              <a:t>Freepik</a:t>
            </a:r>
            <a:r>
              <a:rPr lang="en-GB" sz="1200" b="1" i="0" u="sng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endParaRPr sz="1200" b="1" i="0" u="sng" strike="noStrike" cap="non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329" name="Google Shape;329;p36"/>
          <p:cNvSpPr>
            <a:spLocks noGrp="1"/>
          </p:cNvSpPr>
          <p:nvPr>
            <p:ph type="pic" idx="2"/>
          </p:nvPr>
        </p:nvSpPr>
        <p:spPr>
          <a:xfrm flipH="1">
            <a:off x="5727454" y="-14250"/>
            <a:ext cx="3434100" cy="51720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30" name="Google Shape;330;p36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2" name="Google Shape;332;p37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333" name="Google Shape;333;p37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" name="Google Shape;334;p37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" name="Google Shape;335;p37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6" name="Google Shape;336;p37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7" name="Google Shape;337;p37"/>
          <p:cNvSpPr txBox="1">
            <a:spLocks noGrp="1"/>
          </p:cNvSpPr>
          <p:nvPr>
            <p:ph type="title"/>
          </p:nvPr>
        </p:nvSpPr>
        <p:spPr>
          <a:xfrm>
            <a:off x="720000" y="1413525"/>
            <a:ext cx="4294800" cy="20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8" name="Google Shape;338;p37"/>
          <p:cNvSpPr txBox="1">
            <a:spLocks noGrp="1"/>
          </p:cNvSpPr>
          <p:nvPr>
            <p:ph type="subTitle" idx="1"/>
          </p:nvPr>
        </p:nvSpPr>
        <p:spPr>
          <a:xfrm>
            <a:off x="720000" y="3508800"/>
            <a:ext cx="4294800" cy="10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39" name="Google Shape;339;p37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rgbClr val="FFFFFF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7"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oogle Shape;342;p39"/>
          <p:cNvGrpSpPr/>
          <p:nvPr/>
        </p:nvGrpSpPr>
        <p:grpSpPr>
          <a:xfrm rot="-5400000">
            <a:off x="818974" y="-1243401"/>
            <a:ext cx="7333599" cy="9288401"/>
            <a:chOff x="992698" y="-3"/>
            <a:chExt cx="4102025" cy="5143934"/>
          </a:xfrm>
        </p:grpSpPr>
        <p:pic>
          <p:nvPicPr>
            <p:cNvPr id="343" name="Google Shape;343;p39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4" name="Google Shape;344;p39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5" name="Google Shape;345;p39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6" name="Google Shape;346;p39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47" name="Google Shape;347;p39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9" name="Google Shape;349;p40"/>
          <p:cNvGrpSpPr/>
          <p:nvPr/>
        </p:nvGrpSpPr>
        <p:grpSpPr>
          <a:xfrm rot="-5400000" flipH="1">
            <a:off x="818974" y="-1243402"/>
            <a:ext cx="7333599" cy="9288401"/>
            <a:chOff x="992698" y="-3"/>
            <a:chExt cx="4102025" cy="5143934"/>
          </a:xfrm>
        </p:grpSpPr>
        <p:pic>
          <p:nvPicPr>
            <p:cNvPr id="350" name="Google Shape;350;p40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1" name="Google Shape;351;p40"/>
            <p:cNvPicPr preferRelativeResize="0"/>
            <p:nvPr/>
          </p:nvPicPr>
          <p:blipFill rotWithShape="1">
            <a:blip r:embed="rId2"/>
            <a:srcRect t="30815"/>
            <a:stretch>
              <a:fillRect/>
            </a:stretch>
          </p:blipFill>
          <p:spPr>
            <a:xfrm rot="5400000">
              <a:off x="471744" y="520952"/>
              <a:ext cx="5143933" cy="41020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2" name="Google Shape;352;p40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3" name="Google Shape;353;p40"/>
            <p:cNvPicPr preferRelativeResize="0"/>
            <p:nvPr/>
          </p:nvPicPr>
          <p:blipFill rotWithShape="1">
            <a:blip r:embed="rId2"/>
            <a:srcRect t="32782"/>
            <a:stretch>
              <a:fillRect/>
            </a:stretch>
          </p:blipFill>
          <p:spPr>
            <a:xfrm rot="5400000">
              <a:off x="413334" y="579361"/>
              <a:ext cx="5143933" cy="398520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354" name="Google Shape;354;p40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38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"/>
              <a:buNone/>
              <a:defRPr sz="30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/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sz="14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1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.pn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8.xml"/><Relationship Id="rId3" Type="http://schemas.openxmlformats.org/officeDocument/2006/relationships/hyperlink" Target="https://www.sciencedirect.com/science/article/abs/pii/S1364815225002622" TargetMode="External"/><Relationship Id="rId2" Type="http://schemas.openxmlformats.org/officeDocument/2006/relationships/hyperlink" Target="https://www.researchgate.net/publication/395144535_Deep_learning_for_wildfire_risk_prediction_Integrating_remote_sensing_and_environmental_data" TargetMode="External"/><Relationship Id="rId1" Type="http://schemas.openxmlformats.org/officeDocument/2006/relationships/hyperlink" Target="https://pubmed.ncbi.nlm.nih.gov/40155427/" TargetMode="Externa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9.xml"/><Relationship Id="rId4" Type="http://schemas.openxmlformats.org/officeDocument/2006/relationships/hyperlink" Target="https://www.researchgate.net/publication/384333003_Wildfire_Risk_Prediction_A_Review" TargetMode="External"/><Relationship Id="rId3" Type="http://schemas.openxmlformats.org/officeDocument/2006/relationships/hyperlink" Target="https://www.researchgate.net/publication/372604602_A_Forest_Fire_Susceptibility_Modeling_Approach_Based_on_Integration_Machine_Learning_Algorithm" TargetMode="External"/><Relationship Id="rId2" Type="http://schemas.openxmlformats.org/officeDocument/2006/relationships/hyperlink" Target="https://www.sciencedirect.com/science/article/abs/pii/S0273117723002181" TargetMode="External"/><Relationship Id="rId1" Type="http://schemas.openxmlformats.org/officeDocument/2006/relationships/hyperlink" Target="https://www.sciencedirect.com/science/article/abs/pii/S0378112723002918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1.png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4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1"/>
          <a:srcRect l="-380" r="380"/>
          <a:stretch>
            <a:fillRect/>
          </a:stretch>
        </p:blipFill>
        <p:spPr>
          <a:xfrm flipH="1">
            <a:off x="5729925" y="-14250"/>
            <a:ext cx="3434125" cy="5172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60" name="Google Shape;360;p41"/>
          <p:cNvGrpSpPr/>
          <p:nvPr/>
        </p:nvGrpSpPr>
        <p:grpSpPr>
          <a:xfrm flipH="1">
            <a:off x="1951214" y="-90550"/>
            <a:ext cx="5928976" cy="5195363"/>
            <a:chOff x="992699" y="1"/>
            <a:chExt cx="5928976" cy="5143924"/>
          </a:xfrm>
        </p:grpSpPr>
        <p:pic>
          <p:nvPicPr>
            <p:cNvPr id="361" name="Google Shape;361;p41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41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41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p41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5" name="Google Shape;365;p41"/>
          <p:cNvSpPr txBox="1">
            <a:spLocks noGrp="1"/>
          </p:cNvSpPr>
          <p:nvPr>
            <p:ph type="ctrTitle"/>
          </p:nvPr>
        </p:nvSpPr>
        <p:spPr>
          <a:xfrm>
            <a:off x="193375" y="170150"/>
            <a:ext cx="5613900" cy="29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GB"/>
              <a:t>Machine Learning-Based Wildfire Risk Prediction Using Satellite and Weather Data</a:t>
            </a:r>
            <a:endParaRPr sz="4500"/>
          </a:p>
        </p:txBody>
      </p:sp>
      <p:sp>
        <p:nvSpPr>
          <p:cNvPr id="366" name="Google Shape;366;p41"/>
          <p:cNvSpPr txBox="1">
            <a:spLocks noGrp="1"/>
          </p:cNvSpPr>
          <p:nvPr>
            <p:ph type="subTitle" idx="1"/>
          </p:nvPr>
        </p:nvSpPr>
        <p:spPr>
          <a:xfrm>
            <a:off x="193375" y="3132525"/>
            <a:ext cx="3650700" cy="19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2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Team:</a:t>
            </a: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Ch. Aditya</a:t>
            </a:r>
            <a:r>
              <a:rPr lang="en-GB" sz="12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A.Aaryan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K. Gokul</a:t>
            </a:r>
            <a:endParaRPr sz="1700"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M. Sathwik</a:t>
            </a:r>
            <a:endParaRPr sz="1700"/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Y. Gokul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4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Course Coordinator</a:t>
            </a:r>
            <a:r>
              <a:rPr lang="en-GB" sz="14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:  Dr. K. Swanthana </a:t>
            </a:r>
            <a:endParaRPr sz="14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 sz="11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GB" sz="11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2"/>
          <p:cNvSpPr/>
          <p:nvPr/>
        </p:nvSpPr>
        <p:spPr>
          <a:xfrm>
            <a:off x="480217" y="941425"/>
            <a:ext cx="777600" cy="77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72" name="Google Shape;372;p42"/>
          <p:cNvSpPr/>
          <p:nvPr/>
        </p:nvSpPr>
        <p:spPr>
          <a:xfrm>
            <a:off x="480217" y="1933700"/>
            <a:ext cx="777600" cy="77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73" name="Google Shape;373;p42"/>
          <p:cNvSpPr/>
          <p:nvPr/>
        </p:nvSpPr>
        <p:spPr>
          <a:xfrm>
            <a:off x="457117" y="2939163"/>
            <a:ext cx="777600" cy="77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74" name="Google Shape;374;p42"/>
          <p:cNvSpPr/>
          <p:nvPr/>
        </p:nvSpPr>
        <p:spPr>
          <a:xfrm>
            <a:off x="457137" y="3944625"/>
            <a:ext cx="777600" cy="77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75" name="Google Shape;375;p42"/>
          <p:cNvSpPr/>
          <p:nvPr/>
        </p:nvSpPr>
        <p:spPr>
          <a:xfrm>
            <a:off x="4160112" y="916050"/>
            <a:ext cx="777600" cy="77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76" name="Google Shape;376;p42"/>
          <p:cNvSpPr/>
          <p:nvPr/>
        </p:nvSpPr>
        <p:spPr>
          <a:xfrm>
            <a:off x="4160112" y="1933700"/>
            <a:ext cx="777600" cy="77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77" name="Google Shape;377;p42"/>
          <p:cNvSpPr txBox="1">
            <a:spLocks noGrp="1"/>
          </p:cNvSpPr>
          <p:nvPr>
            <p:ph type="title" idx="5"/>
          </p:nvPr>
        </p:nvSpPr>
        <p:spPr>
          <a:xfrm>
            <a:off x="503317" y="112185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01</a:t>
            </a:r>
            <a:endParaRPr lang="en-GB"/>
          </a:p>
        </p:txBody>
      </p:sp>
      <p:sp>
        <p:nvSpPr>
          <p:cNvPr id="378" name="Google Shape;378;p42"/>
          <p:cNvSpPr txBox="1">
            <a:spLocks noGrp="1"/>
          </p:cNvSpPr>
          <p:nvPr>
            <p:ph type="title" idx="6"/>
          </p:nvPr>
        </p:nvSpPr>
        <p:spPr>
          <a:xfrm>
            <a:off x="4183212" y="112185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05</a:t>
            </a:r>
            <a:endParaRPr lang="en-GB"/>
          </a:p>
        </p:txBody>
      </p:sp>
      <p:sp>
        <p:nvSpPr>
          <p:cNvPr id="379" name="Google Shape;379;p42"/>
          <p:cNvSpPr txBox="1">
            <a:spLocks noGrp="1"/>
          </p:cNvSpPr>
          <p:nvPr>
            <p:ph type="title" idx="7"/>
          </p:nvPr>
        </p:nvSpPr>
        <p:spPr>
          <a:xfrm>
            <a:off x="480237" y="4150425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04</a:t>
            </a:r>
            <a:endParaRPr lang="en-GB"/>
          </a:p>
        </p:txBody>
      </p:sp>
      <p:sp>
        <p:nvSpPr>
          <p:cNvPr id="380" name="Google Shape;380;p42"/>
          <p:cNvSpPr txBox="1">
            <a:spLocks noGrp="1"/>
          </p:cNvSpPr>
          <p:nvPr>
            <p:ph type="title" idx="8"/>
          </p:nvPr>
        </p:nvSpPr>
        <p:spPr>
          <a:xfrm>
            <a:off x="503317" y="213950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02</a:t>
            </a:r>
            <a:endParaRPr lang="en-GB"/>
          </a:p>
        </p:txBody>
      </p:sp>
      <p:sp>
        <p:nvSpPr>
          <p:cNvPr id="381" name="Google Shape;381;p42"/>
          <p:cNvSpPr txBox="1">
            <a:spLocks noGrp="1"/>
          </p:cNvSpPr>
          <p:nvPr>
            <p:ph type="title" idx="14"/>
          </p:nvPr>
        </p:nvSpPr>
        <p:spPr>
          <a:xfrm>
            <a:off x="4183212" y="2139500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06</a:t>
            </a:r>
            <a:endParaRPr lang="en-GB"/>
          </a:p>
        </p:txBody>
      </p:sp>
      <p:sp>
        <p:nvSpPr>
          <p:cNvPr id="382" name="Google Shape;382;p42"/>
          <p:cNvSpPr txBox="1">
            <a:spLocks noGrp="1"/>
          </p:cNvSpPr>
          <p:nvPr>
            <p:ph type="title" idx="15"/>
          </p:nvPr>
        </p:nvSpPr>
        <p:spPr>
          <a:xfrm>
            <a:off x="480217" y="3144963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03</a:t>
            </a:r>
            <a:endParaRPr lang="en-GB"/>
          </a:p>
        </p:txBody>
      </p:sp>
      <p:sp>
        <p:nvSpPr>
          <p:cNvPr id="383" name="Google Shape;383;p42"/>
          <p:cNvSpPr txBox="1">
            <a:spLocks noGrp="1"/>
          </p:cNvSpPr>
          <p:nvPr>
            <p:ph type="title"/>
          </p:nvPr>
        </p:nvSpPr>
        <p:spPr>
          <a:xfrm>
            <a:off x="480225" y="2671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Table of contents</a:t>
            </a:r>
            <a:endParaRPr lang="en-GB"/>
          </a:p>
        </p:txBody>
      </p:sp>
      <p:sp>
        <p:nvSpPr>
          <p:cNvPr id="384" name="Google Shape;384;p42"/>
          <p:cNvSpPr txBox="1">
            <a:spLocks noGrp="1"/>
          </p:cNvSpPr>
          <p:nvPr>
            <p:ph type="subTitle" idx="16"/>
          </p:nvPr>
        </p:nvSpPr>
        <p:spPr>
          <a:xfrm>
            <a:off x="1404098" y="1121854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/>
              <a:t>Problem Statement </a:t>
            </a:r>
            <a:endParaRPr sz="1800"/>
          </a:p>
        </p:txBody>
      </p:sp>
      <p:sp>
        <p:nvSpPr>
          <p:cNvPr id="385" name="Google Shape;385;p42"/>
          <p:cNvSpPr txBox="1">
            <a:spLocks noGrp="1"/>
          </p:cNvSpPr>
          <p:nvPr>
            <p:ph type="subTitle" idx="17"/>
          </p:nvPr>
        </p:nvSpPr>
        <p:spPr>
          <a:xfrm>
            <a:off x="1404108" y="4211561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/>
              <a:t>Research Gap </a:t>
            </a:r>
            <a:endParaRPr sz="1800"/>
          </a:p>
        </p:txBody>
      </p:sp>
      <p:sp>
        <p:nvSpPr>
          <p:cNvPr id="386" name="Google Shape;386;p42"/>
          <p:cNvSpPr txBox="1">
            <a:spLocks noGrp="1"/>
          </p:cNvSpPr>
          <p:nvPr>
            <p:ph type="subTitle" idx="18"/>
          </p:nvPr>
        </p:nvSpPr>
        <p:spPr>
          <a:xfrm>
            <a:off x="5019322" y="1121850"/>
            <a:ext cx="3040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/>
              <a:t>Workflow</a:t>
            </a:r>
            <a:endParaRPr sz="1800"/>
          </a:p>
        </p:txBody>
      </p:sp>
      <p:sp>
        <p:nvSpPr>
          <p:cNvPr id="387" name="Google Shape;387;p42"/>
          <p:cNvSpPr txBox="1">
            <a:spLocks noGrp="1"/>
          </p:cNvSpPr>
          <p:nvPr>
            <p:ph type="subTitle" idx="19"/>
          </p:nvPr>
        </p:nvSpPr>
        <p:spPr>
          <a:xfrm>
            <a:off x="1404098" y="2139504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/>
              <a:t>Objectives </a:t>
            </a:r>
            <a:endParaRPr sz="1600"/>
          </a:p>
        </p:txBody>
      </p:sp>
      <p:sp>
        <p:nvSpPr>
          <p:cNvPr id="388" name="Google Shape;388;p42"/>
          <p:cNvSpPr txBox="1">
            <a:spLocks noGrp="1"/>
          </p:cNvSpPr>
          <p:nvPr>
            <p:ph type="subTitle" idx="20"/>
          </p:nvPr>
        </p:nvSpPr>
        <p:spPr>
          <a:xfrm>
            <a:off x="5088946" y="2139500"/>
            <a:ext cx="332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/>
              <a:t>Innovation &amp; Novelty </a:t>
            </a:r>
            <a:endParaRPr sz="1800"/>
          </a:p>
        </p:txBody>
      </p:sp>
      <p:sp>
        <p:nvSpPr>
          <p:cNvPr id="389" name="Google Shape;389;p42"/>
          <p:cNvSpPr txBox="1">
            <a:spLocks noGrp="1"/>
          </p:cNvSpPr>
          <p:nvPr>
            <p:ph type="subTitle" idx="21"/>
          </p:nvPr>
        </p:nvSpPr>
        <p:spPr>
          <a:xfrm>
            <a:off x="1365398" y="3157154"/>
            <a:ext cx="2231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/>
              <a:t>Literature Survey </a:t>
            </a:r>
            <a:endParaRPr sz="1800"/>
          </a:p>
        </p:txBody>
      </p:sp>
      <p:sp>
        <p:nvSpPr>
          <p:cNvPr id="390" name="Google Shape;390;p42"/>
          <p:cNvSpPr/>
          <p:nvPr/>
        </p:nvSpPr>
        <p:spPr>
          <a:xfrm>
            <a:off x="4183192" y="2983325"/>
            <a:ext cx="777600" cy="77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91" name="Google Shape;391;p42"/>
          <p:cNvSpPr/>
          <p:nvPr/>
        </p:nvSpPr>
        <p:spPr>
          <a:xfrm>
            <a:off x="4160092" y="4005750"/>
            <a:ext cx="777600" cy="777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392" name="Google Shape;392;p42"/>
          <p:cNvSpPr txBox="1">
            <a:spLocks noGrp="1"/>
          </p:cNvSpPr>
          <p:nvPr>
            <p:ph type="title" idx="15"/>
          </p:nvPr>
        </p:nvSpPr>
        <p:spPr>
          <a:xfrm>
            <a:off x="4183192" y="3175513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07</a:t>
            </a:r>
            <a:endParaRPr lang="en-GB"/>
          </a:p>
        </p:txBody>
      </p:sp>
      <p:sp>
        <p:nvSpPr>
          <p:cNvPr id="393" name="Google Shape;393;p42"/>
          <p:cNvSpPr txBox="1">
            <a:spLocks noGrp="1"/>
          </p:cNvSpPr>
          <p:nvPr>
            <p:ph type="title" idx="15"/>
          </p:nvPr>
        </p:nvSpPr>
        <p:spPr>
          <a:xfrm>
            <a:off x="4183192" y="4150413"/>
            <a:ext cx="731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/>
              <a:t>08</a:t>
            </a:r>
            <a:endParaRPr lang="en-GB"/>
          </a:p>
        </p:txBody>
      </p:sp>
      <p:sp>
        <p:nvSpPr>
          <p:cNvPr id="394" name="Google Shape;394;p42"/>
          <p:cNvSpPr txBox="1">
            <a:spLocks noGrp="1"/>
          </p:cNvSpPr>
          <p:nvPr>
            <p:ph type="subTitle" idx="20"/>
          </p:nvPr>
        </p:nvSpPr>
        <p:spPr>
          <a:xfrm>
            <a:off x="5019321" y="3189125"/>
            <a:ext cx="332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/>
              <a:t>Feasibility Analysis </a:t>
            </a:r>
            <a:endParaRPr sz="1800"/>
          </a:p>
        </p:txBody>
      </p:sp>
      <p:sp>
        <p:nvSpPr>
          <p:cNvPr id="395" name="Google Shape;395;p42"/>
          <p:cNvSpPr txBox="1">
            <a:spLocks noGrp="1"/>
          </p:cNvSpPr>
          <p:nvPr>
            <p:ph type="subTitle" idx="20"/>
          </p:nvPr>
        </p:nvSpPr>
        <p:spPr>
          <a:xfrm>
            <a:off x="5088946" y="4211550"/>
            <a:ext cx="3326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 sz="1800">
                <a:solidFill>
                  <a:srgbClr val="000000"/>
                </a:solidFill>
              </a:rPr>
              <a:t>Plan &amp; Outcomes 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43"/>
          <p:cNvPicPr preferRelativeResize="0">
            <a:picLocks noGrp="1"/>
          </p:cNvPicPr>
          <p:nvPr>
            <p:ph type="pic" idx="3"/>
          </p:nvPr>
        </p:nvPicPr>
        <p:blipFill rotWithShape="1">
          <a:blip r:embed="rId1"/>
          <a:srcRect r="4187"/>
          <a:stretch>
            <a:fillRect/>
          </a:stretch>
        </p:blipFill>
        <p:spPr>
          <a:xfrm flipH="1">
            <a:off x="7069601" y="-14250"/>
            <a:ext cx="2091949" cy="5172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01" name="Google Shape;401;p43"/>
          <p:cNvGrpSpPr/>
          <p:nvPr/>
        </p:nvGrpSpPr>
        <p:grpSpPr>
          <a:xfrm flipH="1">
            <a:off x="2747050" y="-25937"/>
            <a:ext cx="5928976" cy="5195363"/>
            <a:chOff x="992699" y="1"/>
            <a:chExt cx="5928976" cy="5143924"/>
          </a:xfrm>
        </p:grpSpPr>
        <p:pic>
          <p:nvPicPr>
            <p:cNvPr id="402" name="Google Shape;402;p4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3" name="Google Shape;403;p4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4" name="Google Shape;404;p4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5" name="Google Shape;405;p4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6" name="Google Shape;406;p43"/>
          <p:cNvSpPr txBox="1">
            <a:spLocks noGrp="1"/>
          </p:cNvSpPr>
          <p:nvPr>
            <p:ph type="title"/>
          </p:nvPr>
        </p:nvSpPr>
        <p:spPr>
          <a:xfrm>
            <a:off x="966800" y="356250"/>
            <a:ext cx="56832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 sz="3600"/>
              <a:t>Problem Statement</a:t>
            </a:r>
            <a:endParaRPr sz="3600"/>
          </a:p>
        </p:txBody>
      </p:sp>
      <p:cxnSp>
        <p:nvCxnSpPr>
          <p:cNvPr id="407" name="Google Shape;407;p43"/>
          <p:cNvCxnSpPr/>
          <p:nvPr/>
        </p:nvCxnSpPr>
        <p:spPr>
          <a:xfrm rot="10800000">
            <a:off x="32300" y="26816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8" name="Google Shape;408;p43"/>
          <p:cNvSpPr txBox="1"/>
          <p:nvPr/>
        </p:nvSpPr>
        <p:spPr>
          <a:xfrm>
            <a:off x="172100" y="1412550"/>
            <a:ext cx="6689400" cy="43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Wildfires cause severe damage to:</a:t>
            </a:r>
            <a:endParaRPr b="1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Forests and biodiversity</a:t>
            </a: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Human settlements and infrastructure</a:t>
            </a: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Agricultural land</a:t>
            </a: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Wildlife and ecosystems</a:t>
            </a: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Air quality and the environment</a:t>
            </a: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300" b="1"/>
              <a:t>Existing Challenge</a:t>
            </a:r>
            <a:endParaRPr sz="1300" b="1"/>
          </a:p>
          <a:p>
            <a:pPr marL="45720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Many wildfire monitoring systems primarily focus on </a:t>
            </a:r>
            <a:r>
              <a:rPr lang="en-GB" sz="1100" b="1"/>
              <a:t>detecting active fires after ignition</a:t>
            </a:r>
            <a:r>
              <a:rPr lang="en-GB" sz="1100"/>
              <a:t>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Weather-only approaches may not capture </a:t>
            </a:r>
            <a:r>
              <a:rPr lang="en-GB" sz="1100" b="1"/>
              <a:t>vegetation and land conditions</a:t>
            </a:r>
            <a:r>
              <a:rPr lang="en-GB" sz="1100"/>
              <a:t>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Satellite observations provide valuable environmental information but require proper processing and integration.</a:t>
            </a:r>
            <a:endParaRPr sz="1100"/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A simple </a:t>
            </a:r>
            <a:r>
              <a:rPr lang="en-GB" sz="1100" b="1"/>
              <a:t>Fire / No-Fire</a:t>
            </a:r>
            <a:r>
              <a:rPr lang="en-GB" sz="1100"/>
              <a:t> prediction does not provide enough information for prioritizing high-risk areas.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4"/>
          <p:cNvSpPr txBox="1">
            <a:spLocks noGrp="1"/>
          </p:cNvSpPr>
          <p:nvPr>
            <p:ph type="title"/>
          </p:nvPr>
        </p:nvSpPr>
        <p:spPr>
          <a:xfrm>
            <a:off x="624300" y="435250"/>
            <a:ext cx="7895400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400" u="sng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Problem to Solve</a:t>
            </a:r>
            <a:endParaRPr sz="1400" u="sng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Develop a machine-learning system that predicts wildfire risk before potential fire occurrence by integrating satellite-derived environmental features with weather conditions.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Current Approach</a:t>
            </a:r>
            <a:endParaRPr sz="1200" u="sng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Fire Occurs  → Detection  → Response 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Proposed Approach</a:t>
            </a:r>
            <a:endParaRPr sz="1200" u="sng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Satellite  + Weather 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↓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ML Prediction 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↓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Risk Before Fire 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         ↓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38100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Early Monitoring &amp; Action </a:t>
            </a:r>
            <a:endParaRPr sz="1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3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45"/>
          <p:cNvPicPr preferRelativeResize="0">
            <a:picLocks noGrp="1"/>
          </p:cNvPicPr>
          <p:nvPr>
            <p:ph type="pic" idx="2"/>
          </p:nvPr>
        </p:nvPicPr>
        <p:blipFill rotWithShape="1">
          <a:blip r:embed="rId1"/>
          <a:srcRect l="199" r="199"/>
          <a:stretch>
            <a:fillRect/>
          </a:stretch>
        </p:blipFill>
        <p:spPr>
          <a:xfrm flipH="1">
            <a:off x="-97850" y="-14250"/>
            <a:ext cx="2331650" cy="5172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9" name="Google Shape;419;p45"/>
          <p:cNvGrpSpPr/>
          <p:nvPr/>
        </p:nvGrpSpPr>
        <p:grpSpPr>
          <a:xfrm>
            <a:off x="1713314" y="-25938"/>
            <a:ext cx="6501351" cy="5195363"/>
            <a:chOff x="992699" y="1"/>
            <a:chExt cx="6501351" cy="5143924"/>
          </a:xfrm>
        </p:grpSpPr>
        <p:pic>
          <p:nvPicPr>
            <p:cNvPr id="420" name="Google Shape;420;p45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1" name="Google Shape;421;p45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45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385225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3" name="Google Shape;423;p45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 rot="5400000">
              <a:off x="1957600" y="-392525"/>
              <a:ext cx="5143924" cy="592897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4" name="Google Shape;424;p45"/>
          <p:cNvSpPr txBox="1">
            <a:spLocks noGrp="1"/>
          </p:cNvSpPr>
          <p:nvPr>
            <p:ph type="title"/>
          </p:nvPr>
        </p:nvSpPr>
        <p:spPr>
          <a:xfrm>
            <a:off x="2285688" y="94825"/>
            <a:ext cx="45726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2500"/>
              <a:t>OBJECTIVES </a:t>
            </a:r>
            <a:endParaRPr sz="2500"/>
          </a:p>
        </p:txBody>
      </p:sp>
      <p:sp>
        <p:nvSpPr>
          <p:cNvPr id="425" name="Google Shape;425;p45"/>
          <p:cNvSpPr txBox="1"/>
          <p:nvPr/>
        </p:nvSpPr>
        <p:spPr>
          <a:xfrm>
            <a:off x="2494750" y="643525"/>
            <a:ext cx="6210900" cy="46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b="1" u="sng"/>
              <a:t>Primary Objective</a:t>
            </a:r>
            <a:endParaRPr b="1" u="sng"/>
          </a:p>
          <a:p>
            <a:pPr marL="0" marR="3810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/>
              <a:t>To develop an explainable machine-learning system for predicting location-specific wildfire risk using satellite and weather data.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b="1"/>
              <a:t>Specific Objectives</a:t>
            </a:r>
            <a:endParaRPr b="1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 b="1"/>
              <a:t>Data Collection:</a:t>
            </a:r>
            <a:r>
              <a:rPr lang="en-GB" sz="1200"/>
              <a:t> Ingest wildfire, satellite, and meteorological datasets.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 b="1"/>
              <a:t>Preprocessing &amp; Fusion:</a:t>
            </a:r>
            <a:r>
              <a:rPr lang="en-GB" sz="1200"/>
              <a:t> Clean and integrate heterogeneous spatial and temporal data.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 b="1"/>
              <a:t>Feature Engineering:</a:t>
            </a:r>
            <a:r>
              <a:rPr lang="en-GB" sz="1200"/>
              <a:t> Extract key features (</a:t>
            </a:r>
            <a:r>
              <a:rPr lang="en-GB" sz="1200" i="1"/>
              <a:t>NDVI, Land-Surface Temp, Humidity, Wind Speed, Vegetation Cover</a:t>
            </a:r>
            <a:r>
              <a:rPr lang="en-GB" sz="1200"/>
              <a:t>).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 b="1"/>
              <a:t>Model Development:</a:t>
            </a:r>
            <a:r>
              <a:rPr lang="en-GB" sz="1200"/>
              <a:t> Train and evaluate scalable machine-learning models (e.g., Random Forest, XGBoost).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 b="1"/>
              <a:t>Risk Quantification:</a:t>
            </a:r>
            <a:r>
              <a:rPr lang="en-GB" sz="1200"/>
              <a:t> Generate non-binary wildfire probability scores classified into </a:t>
            </a:r>
            <a:r>
              <a:rPr lang="en-GB" sz="1200" b="1"/>
              <a:t>Low</a:t>
            </a:r>
            <a:r>
              <a:rPr lang="en-GB" sz="1200"/>
              <a:t>, </a:t>
            </a:r>
            <a:r>
              <a:rPr lang="en-GB" sz="1200" b="1"/>
              <a:t>Medium</a:t>
            </a:r>
            <a:r>
              <a:rPr lang="en-GB" sz="1200"/>
              <a:t>, and </a:t>
            </a:r>
            <a:r>
              <a:rPr lang="en-GB" sz="1200" b="1"/>
              <a:t>High</a:t>
            </a:r>
            <a:r>
              <a:rPr lang="en-GB" sz="1200"/>
              <a:t> risk.	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GB" sz="1200" b="1"/>
              <a:t>Explainability &amp; Mapping:</a:t>
            </a:r>
            <a:r>
              <a:rPr lang="en-GB" sz="1200"/>
              <a:t> Use </a:t>
            </a:r>
            <a:r>
              <a:rPr lang="en-GB" sz="1200" b="1"/>
              <a:t>SHAP</a:t>
            </a:r>
            <a:r>
              <a:rPr lang="en-GB" sz="1200"/>
              <a:t> for feature explainability and deploy an interactive </a:t>
            </a:r>
            <a:r>
              <a:rPr lang="en-GB" sz="1200" b="1"/>
              <a:t>risk dashboard</a:t>
            </a:r>
            <a:r>
              <a:rPr lang="en-GB" sz="1200"/>
              <a:t>.</a:t>
            </a:r>
            <a:endParaRPr sz="12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0" name="Google Shape;430;p46"/>
          <p:cNvGraphicFramePr/>
          <p:nvPr/>
        </p:nvGraphicFramePr>
        <p:xfrm>
          <a:off x="425875" y="522100"/>
          <a:ext cx="8112325" cy="4523750"/>
        </p:xfrm>
        <a:graphic>
          <a:graphicData uri="http://schemas.openxmlformats.org/drawingml/2006/table">
            <a:tbl>
              <a:tblPr>
                <a:noFill/>
                <a:tableStyleId>{B7766D48-B327-4EA1-AB54-F5FB673F19EA}</a:tableStyleId>
              </a:tblPr>
              <a:tblGrid>
                <a:gridCol w="2829900"/>
                <a:gridCol w="2578325"/>
                <a:gridCol w="2704100"/>
              </a:tblGrid>
              <a:tr h="774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Paper &amp; Year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Key Approach Used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Identified Limitation / Gap 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  <a:tr h="1192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u="sng">
                          <a:solidFill>
                            <a:schemeClr val="hlink"/>
                          </a:solidFill>
                          <a:hlinkClick r:id="rId1"/>
                        </a:rPr>
                        <a:t>Exploration of Geo-Spatial Data and Machine Learning Algorithms for Robust Wildfire Occurrence Prediction (2025)</a:t>
                      </a:r>
                      <a:endParaRPr lang="en-GB" u="sng">
                        <a:solidFill>
                          <a:schemeClr val="hlink"/>
                        </a:solidFill>
                        <a:hlinkClick r:id="rId1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Explores predicting wildfire occurrences using meteorological and geo-spatial parameters alongside ML algorithms.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Highlights the challenge of imbalanced spatio-temporal data and notes the absence of a unified approach across different regions. 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  <a:tr h="1101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u="sng">
                          <a:solidFill>
                            <a:schemeClr val="hlink"/>
                          </a:solidFill>
                          <a:hlinkClick r:id="rId2"/>
                        </a:rPr>
                        <a:t>Deep Learning for Wildfire Risk Prediction: Integrating Remote Sensing and Environmental Data (2024) </a:t>
                      </a:r>
                      <a:endParaRPr lang="en-GB" u="sng">
                        <a:solidFill>
                          <a:schemeClr val="hlink"/>
                        </a:solidFill>
                        <a:hlinkClick r:id="rId2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Categorizes deep learning models for spatiotemporal prediction and discusses interpretability techniques like SHAP.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Emphasizes that many DL models act as "black boxes" and often struggle with evaluating feature collinearity. 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  <a:tr h="7450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u="sng">
                          <a:solidFill>
                            <a:schemeClr val="hlink"/>
                          </a:solidFill>
                          <a:hlinkClick r:id="rId3"/>
                        </a:rPr>
                        <a:t>AutoML-Fire: Automated Machine-Learning Approach to Predict Forest Fires (2025) </a:t>
                      </a:r>
                      <a:endParaRPr lang="en-GB" u="sng">
                        <a:solidFill>
                          <a:schemeClr val="hlink"/>
                        </a:solidFill>
                        <a:hlinkClick r:id="rId3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Proposes an AutoML framework utilizing Bayesian optimization to handle hyperparameter tuning automatically.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Notes that traditional ML methods require manual intervention for model selection and often struggle with data imbalance. 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sp>
        <p:nvSpPr>
          <p:cNvPr id="431" name="Google Shape;431;p46"/>
          <p:cNvSpPr txBox="1"/>
          <p:nvPr/>
        </p:nvSpPr>
        <p:spPr>
          <a:xfrm>
            <a:off x="3011525" y="-85025"/>
            <a:ext cx="33237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Literature Survey </a:t>
            </a:r>
            <a:endParaRPr sz="2500" b="1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36" name="Google Shape;436;p47"/>
          <p:cNvGraphicFramePr/>
          <p:nvPr/>
        </p:nvGraphicFramePr>
        <p:xfrm>
          <a:off x="127063" y="-75562"/>
          <a:ext cx="8634775" cy="5294705"/>
        </p:xfrm>
        <a:graphic>
          <a:graphicData uri="http://schemas.openxmlformats.org/drawingml/2006/table">
            <a:tbl>
              <a:tblPr>
                <a:noFill/>
                <a:tableStyleId>{B7766D48-B327-4EA1-AB54-F5FB673F19EA}</a:tableStyleId>
              </a:tblPr>
              <a:tblGrid>
                <a:gridCol w="3040000"/>
                <a:gridCol w="2831425"/>
                <a:gridCol w="2763350"/>
              </a:tblGrid>
              <a:tr h="7228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Paper &amp; Year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Key Approach Used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Identified Limitation / Gap 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  <a:tr h="695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u="sng">
                          <a:solidFill>
                            <a:schemeClr val="hlink"/>
                          </a:solidFill>
                          <a:hlinkClick r:id="rId1"/>
                        </a:rPr>
                        <a:t>Environmental Drivers and Spatial Prediction of Forest Fires in the Western Ghats (2023) </a:t>
                      </a:r>
                      <a:endParaRPr lang="en-GB" u="sng">
                        <a:solidFill>
                          <a:schemeClr val="hlink"/>
                        </a:solidFill>
                        <a:hlinkClick r:id="rId1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Uses spatial variables and vegetation indices for ensemble machine learning prediction.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Focuses heavily on regional vegetation conditions, making it less adaptable for real-time, cross-regional monitoring. 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  <a:tr h="695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u="sng">
                          <a:solidFill>
                            <a:schemeClr val="hlink"/>
                          </a:solidFill>
                          <a:hlinkClick r:id="rId2"/>
                        </a:rPr>
                        <a:t>Forest Fire Susceptibility Mapping with Sensitivity and Uncertainty Analysis (2023) </a:t>
                      </a:r>
                      <a:endParaRPr lang="en-GB" u="sng">
                        <a:solidFill>
                          <a:schemeClr val="hlink"/>
                        </a:solidFill>
                        <a:hlinkClick r:id="rId2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Maps susceptibility using geospatial techniques, ML models (RF, XGBoost), and deep neural network-based sensitivity analysis.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Primarily evaluates static variables (like distance to road and elevation) and highlights the need for dynamic weather integration. 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  <a:tr h="695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u="sng">
                          <a:solidFill>
                            <a:schemeClr val="hlink"/>
                          </a:solidFill>
                          <a:hlinkClick r:id="rId3"/>
                        </a:rPr>
                        <a:t>Forest Fire Susceptibility Modeling in the Eastern Mediterranean: A Machine Learning Assessment (2023)</a:t>
                      </a:r>
                      <a:r>
                        <a:rPr lang="en-GB"/>
                        <a:t>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Creates high-resolution susceptibility maps comparing algorithms like Random Forest and SVM.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Relies heavily on historical inventory maps, requiring manual processing of spatial data rather than real-time automated ingestion. 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  <a:tr h="695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u="sng">
                          <a:solidFill>
                            <a:schemeClr val="hlink"/>
                          </a:solidFill>
                          <a:hlinkClick r:id="rId4"/>
                        </a:rPr>
                        <a:t>Wildfire Risk Prediction: A Review (2024) </a:t>
                      </a:r>
                      <a:endParaRPr lang="en-GB" u="sng">
                        <a:solidFill>
                          <a:schemeClr val="hlink"/>
                        </a:solidFill>
                        <a:hlinkClick r:id="rId4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Comprehensively categorizes deep learning approaches and public remote sensing datasets. </a:t>
                      </a:r>
                      <a:endParaRPr lang="en-GB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Shows a lack of models that successfully couple numerical weather-prediction frameworks with deep learning capabilities. </a:t>
                      </a:r>
                      <a:endParaRPr lang="en-GB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4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1"/>
          <a:srcRect l="199" r="199"/>
          <a:stretch>
            <a:fillRect/>
          </a:stretch>
        </p:blipFill>
        <p:spPr>
          <a:xfrm flipH="1">
            <a:off x="6906001" y="-14250"/>
            <a:ext cx="2255549" cy="5172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2" name="Google Shape;442;p48"/>
          <p:cNvCxnSpPr/>
          <p:nvPr/>
        </p:nvCxnSpPr>
        <p:spPr>
          <a:xfrm rot="10800000">
            <a:off x="-44475" y="267119"/>
            <a:ext cx="7552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3" name="Google Shape;443;p48"/>
          <p:cNvSpPr txBox="1"/>
          <p:nvPr/>
        </p:nvSpPr>
        <p:spPr>
          <a:xfrm>
            <a:off x="2063600" y="267125"/>
            <a:ext cx="34221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 b="1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Research Gap</a:t>
            </a:r>
            <a:endParaRPr sz="2500" b="1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44" name="Google Shape;444;p48"/>
          <p:cNvSpPr/>
          <p:nvPr/>
        </p:nvSpPr>
        <p:spPr>
          <a:xfrm>
            <a:off x="0" y="836525"/>
            <a:ext cx="3066900" cy="4307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u="sng"/>
              <a:t>Current Limitations</a:t>
            </a:r>
            <a:endParaRPr sz="1600" b="1" u="sng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/>
              <a:t>Reactive, Not Proactive:</a:t>
            </a:r>
            <a:r>
              <a:rPr lang="en-GB" sz="1200"/>
              <a:t> Most systems focus on active-fire detection (after ignition) rather than pre-fire susceptibility.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/>
              <a:t>Binary Outputs:</a:t>
            </a:r>
            <a:r>
              <a:rPr lang="en-GB" sz="1200"/>
              <a:t> Existing models often classify areas strictly as "Fire" or "No-Fire", failing to provide a graded scale for resource allocation.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/>
              <a:t>Siloed Data:</a:t>
            </a:r>
            <a:r>
              <a:rPr lang="en-GB" sz="1200"/>
              <a:t> Studies usually rely heavily on either static satellite imagery or weather data, rarely fusing them dynamically.</a:t>
            </a: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/>
              <a:t>Black-Box AI:</a:t>
            </a:r>
            <a:r>
              <a:rPr lang="en-GB" sz="1200"/>
              <a:t> Deep learning models provide predictions but lack the explainability needed for emergency responders to trust the data.</a:t>
            </a:r>
            <a:endParaRPr sz="1200"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45" name="Google Shape;445;p48"/>
          <p:cNvSpPr/>
          <p:nvPr/>
        </p:nvSpPr>
        <p:spPr>
          <a:xfrm>
            <a:off x="3312325" y="836525"/>
            <a:ext cx="3189900" cy="4321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u="sng"/>
              <a:t>The Identified Gap</a:t>
            </a:r>
            <a:endParaRPr sz="1600" b="1" u="sng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is a critical need for a proactive, multi-source framework that fuses real-time weather conditions with satellite-derived environmental data to generate granular, location-specific, and explainable risk scores (Low/Medium/High) before a fire occurs.</a:t>
            </a:r>
            <a:endParaRPr lang="en-GB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49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567800" y="-80375"/>
            <a:ext cx="3576200" cy="52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4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-155875" y="-80375"/>
            <a:ext cx="8331225" cy="534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9"/>
          <p:cNvSpPr txBox="1"/>
          <p:nvPr/>
        </p:nvSpPr>
        <p:spPr>
          <a:xfrm>
            <a:off x="3406200" y="-80375"/>
            <a:ext cx="1497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Workflow</a:t>
            </a:r>
            <a:endParaRPr sz="2000" b="1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453" name="Google Shape;453;p4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-155875" y="-80325"/>
            <a:ext cx="9299876" cy="531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0"/>
          <p:cNvSpPr/>
          <p:nvPr/>
        </p:nvSpPr>
        <p:spPr>
          <a:xfrm>
            <a:off x="165700" y="1114750"/>
            <a:ext cx="2658900" cy="3901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b="1" u="sng"/>
              <a:t>Multi-Source Data Fusion</a:t>
            </a:r>
            <a:endParaRPr sz="1300" b="1" u="sng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The Innovation:</a:t>
            </a:r>
            <a:r>
              <a:rPr lang="en-GB" sz="1100"/>
              <a:t> Moving beyond single-source monitoring.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Details:</a:t>
            </a:r>
            <a:r>
              <a:rPr lang="en-GB" sz="1100"/>
              <a:t> Dynamically fusing static satellite imagery (NASA/Sentinel) with real-time weather metrics (temperature, wind, humidity) into a single predictive engine.</a:t>
            </a:r>
            <a:endParaRPr sz="1100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59" name="Google Shape;459;p50"/>
          <p:cNvSpPr/>
          <p:nvPr/>
        </p:nvSpPr>
        <p:spPr>
          <a:xfrm>
            <a:off x="6349050" y="1114750"/>
            <a:ext cx="2658900" cy="3901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b="1" u="sng"/>
              <a:t>Granular Risk Categorization</a:t>
            </a:r>
            <a:endParaRPr sz="1200" b="1" u="sng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The Innovation:</a:t>
            </a:r>
            <a:r>
              <a:rPr lang="en-GB" sz="1100"/>
              <a:t> Actionable Intelligence.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Details:</a:t>
            </a:r>
            <a:r>
              <a:rPr lang="en-GB" sz="1100"/>
              <a:t> Shifting away from basic binary "Fire/No-Fire" outputs. Generating a continuous probability score categorized into </a:t>
            </a:r>
            <a:r>
              <a:rPr lang="en-GB" sz="1100" b="1"/>
              <a:t>Low, Medium, and High Risk</a:t>
            </a:r>
            <a:r>
              <a:rPr lang="en-GB" sz="1100"/>
              <a:t> zones for prioritized resource allocation.</a:t>
            </a:r>
            <a:endParaRPr sz="1100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60" name="Google Shape;460;p50"/>
          <p:cNvSpPr/>
          <p:nvPr/>
        </p:nvSpPr>
        <p:spPr>
          <a:xfrm>
            <a:off x="3257375" y="1114750"/>
            <a:ext cx="2658900" cy="3901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 b="1" u="sng"/>
              <a:t>Explainable AI (XAI)</a:t>
            </a:r>
            <a:endParaRPr sz="1300" b="1" u="sng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The Innovation:</a:t>
            </a:r>
            <a:r>
              <a:rPr lang="en-GB" sz="1100"/>
              <a:t> Solving the "Black Box" problem.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Details:</a:t>
            </a:r>
            <a:r>
              <a:rPr lang="en-GB" sz="1100"/>
              <a:t> Utilizing </a:t>
            </a:r>
            <a:r>
              <a:rPr lang="en-GB" sz="1100" b="1"/>
              <a:t>SHAP</a:t>
            </a:r>
            <a:r>
              <a:rPr lang="en-GB" sz="1100"/>
              <a:t> values to provide total transparency. When a region is flagged as high risk, the system explains </a:t>
            </a:r>
            <a:r>
              <a:rPr lang="en-GB" sz="1100" i="1"/>
              <a:t>why</a:t>
            </a:r>
            <a:r>
              <a:rPr lang="en-GB" sz="1100"/>
              <a:t> (e.g., "High risk driven by 70% wind speed and dry vegetation").</a:t>
            </a:r>
            <a:endParaRPr sz="1100"/>
          </a:p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61" name="Google Shape;461;p50"/>
          <p:cNvSpPr txBox="1"/>
          <p:nvPr/>
        </p:nvSpPr>
        <p:spPr>
          <a:xfrm>
            <a:off x="910700" y="332750"/>
            <a:ext cx="690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Innovation &amp; Novelty </a:t>
            </a:r>
            <a:endParaRPr sz="2200" b="1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2500"/>
              <a:t>Feasibility Analysis </a:t>
            </a:r>
            <a:endParaRPr lang="en-GB" sz="2500"/>
          </a:p>
        </p:txBody>
      </p:sp>
      <p:sp>
        <p:nvSpPr>
          <p:cNvPr id="467" name="Google Shape;467;p51"/>
          <p:cNvSpPr txBox="1">
            <a:spLocks noGrp="1"/>
          </p:cNvSpPr>
          <p:nvPr>
            <p:ph type="subTitle" idx="1"/>
          </p:nvPr>
        </p:nvSpPr>
        <p:spPr>
          <a:xfrm>
            <a:off x="2076823" y="1441800"/>
            <a:ext cx="57627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Built using proven, industry-standard machine learning libraries (Scikit-Learn, XGBoost) and open-source geospatial tools (GeoPandas).</a:t>
            </a:r>
            <a:endParaRPr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68" name="Google Shape;468;p51"/>
          <p:cNvSpPr txBox="1">
            <a:spLocks noGrp="1"/>
          </p:cNvSpPr>
          <p:nvPr>
            <p:ph type="subTitle" idx="2"/>
          </p:nvPr>
        </p:nvSpPr>
        <p:spPr>
          <a:xfrm>
            <a:off x="2076831" y="2604250"/>
            <a:ext cx="57627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Relies on stable, free, and publicly available data feeds (NASA FIRMS and Open-Meteo APIs), ensuring continuous and reliable system operation.</a:t>
            </a:r>
            <a:endParaRPr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69" name="Google Shape;469;p51"/>
          <p:cNvSpPr txBox="1">
            <a:spLocks noGrp="1"/>
          </p:cNvSpPr>
          <p:nvPr>
            <p:ph type="subTitle" idx="3"/>
          </p:nvPr>
        </p:nvSpPr>
        <p:spPr>
          <a:xfrm>
            <a:off x="2076831" y="3772818"/>
            <a:ext cx="5762700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architecture is lightweight. Once the model is trained, the inference and dashboard (Streamlit) can run efficiently on standard cloud instances with minimal computational costs.</a:t>
            </a:r>
            <a:endParaRPr sz="1300"/>
          </a:p>
        </p:txBody>
      </p:sp>
      <p:sp>
        <p:nvSpPr>
          <p:cNvPr id="470" name="Google Shape;470;p51"/>
          <p:cNvSpPr txBox="1">
            <a:spLocks noGrp="1"/>
          </p:cNvSpPr>
          <p:nvPr>
            <p:ph type="subTitle" idx="4"/>
          </p:nvPr>
        </p:nvSpPr>
        <p:spPr>
          <a:xfrm>
            <a:off x="2076823" y="1177425"/>
            <a:ext cx="5762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Technical Feasibility</a:t>
            </a:r>
            <a:r>
              <a:rPr lang="en-GB" sz="16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sz="2100"/>
          </a:p>
        </p:txBody>
      </p:sp>
      <p:sp>
        <p:nvSpPr>
          <p:cNvPr id="471" name="Google Shape;471;p51"/>
          <p:cNvSpPr txBox="1">
            <a:spLocks noGrp="1"/>
          </p:cNvSpPr>
          <p:nvPr>
            <p:ph type="subTitle" idx="5"/>
          </p:nvPr>
        </p:nvSpPr>
        <p:spPr>
          <a:xfrm>
            <a:off x="2076823" y="2340901"/>
            <a:ext cx="5762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Operational Feasibility</a:t>
            </a:r>
            <a:endParaRPr sz="2100"/>
          </a:p>
        </p:txBody>
      </p:sp>
      <p:sp>
        <p:nvSpPr>
          <p:cNvPr id="472" name="Google Shape;472;p51"/>
          <p:cNvSpPr txBox="1">
            <a:spLocks noGrp="1"/>
          </p:cNvSpPr>
          <p:nvPr>
            <p:ph type="subTitle" idx="6"/>
          </p:nvPr>
        </p:nvSpPr>
        <p:spPr>
          <a:xfrm>
            <a:off x="2076823" y="3503352"/>
            <a:ext cx="5762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Economic Feasibility</a:t>
            </a:r>
            <a:endParaRPr sz="2100"/>
          </a:p>
        </p:txBody>
      </p:sp>
      <p:sp>
        <p:nvSpPr>
          <p:cNvPr id="473" name="Google Shape;473;p51"/>
          <p:cNvSpPr/>
          <p:nvPr/>
        </p:nvSpPr>
        <p:spPr>
          <a:xfrm>
            <a:off x="1304469" y="1177425"/>
            <a:ext cx="731400" cy="731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01</a:t>
            </a: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474" name="Google Shape;474;p51"/>
          <p:cNvSpPr/>
          <p:nvPr/>
        </p:nvSpPr>
        <p:spPr>
          <a:xfrm>
            <a:off x="1304469" y="3503352"/>
            <a:ext cx="731400" cy="731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03</a:t>
            </a: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  <p:sp>
        <p:nvSpPr>
          <p:cNvPr id="475" name="Google Shape;475;p51"/>
          <p:cNvSpPr/>
          <p:nvPr/>
        </p:nvSpPr>
        <p:spPr>
          <a:xfrm>
            <a:off x="1304469" y="2340901"/>
            <a:ext cx="731400" cy="731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GB" sz="2000" b="0" i="0" u="none" strike="noStrike" cap="none">
                <a:solidFill>
                  <a:schemeClr val="dk1"/>
                </a:solidFill>
                <a:latin typeface="Figtree SemiBold"/>
                <a:ea typeface="Figtree SemiBold"/>
                <a:cs typeface="Figtree SemiBold"/>
                <a:sym typeface="Figtree SemiBold"/>
              </a:rPr>
              <a:t>02</a:t>
            </a:r>
            <a:endParaRPr sz="1400" b="0" i="0" u="none" strike="noStrike" cap="none">
              <a:solidFill>
                <a:srgbClr val="000000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2"/>
          <p:cNvSpPr txBox="1">
            <a:spLocks noGrp="1"/>
          </p:cNvSpPr>
          <p:nvPr>
            <p:ph type="title"/>
          </p:nvPr>
        </p:nvSpPr>
        <p:spPr>
          <a:xfrm>
            <a:off x="460975" y="30045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GB" sz="2500"/>
              <a:t>Plan &amp; Expected Outcomes </a:t>
            </a:r>
            <a:endParaRPr sz="2300"/>
          </a:p>
        </p:txBody>
      </p:sp>
      <p:sp>
        <p:nvSpPr>
          <p:cNvPr id="481" name="Google Shape;481;p52"/>
          <p:cNvSpPr txBox="1"/>
          <p:nvPr/>
        </p:nvSpPr>
        <p:spPr>
          <a:xfrm>
            <a:off x="460975" y="1123550"/>
            <a:ext cx="7643400" cy="3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b="1"/>
              <a:t>Project Plan (Timeline):</a:t>
            </a:r>
            <a:endParaRPr sz="1200" b="1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GB" sz="1200" b="1"/>
              <a:t>Phase 1:</a:t>
            </a:r>
            <a:r>
              <a:rPr lang="en-GB" sz="1200"/>
              <a:t> Data collection &amp; preprocessing (cleaning satellite and weather feeds).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 b="1"/>
              <a:t>Phase 2:</a:t>
            </a:r>
            <a:r>
              <a:rPr lang="en-GB" sz="1200"/>
              <a:t> Feature engineering &amp; ML model training (XGBoost/Random Forest).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 b="1"/>
              <a:t>Phase 3:</a:t>
            </a:r>
            <a:r>
              <a:rPr lang="en-GB" sz="1200"/>
              <a:t> Integration of SHAP (Explainable AI) and dashboard UI development.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 b="1"/>
              <a:t>Phase 4:</a:t>
            </a:r>
            <a:r>
              <a:rPr lang="en-GB" sz="1200"/>
              <a:t> Final system testing, evaluation, and deployment.</a:t>
            </a:r>
            <a:endParaRPr sz="12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200" b="1"/>
              <a:t>Expected Outcomes:</a:t>
            </a:r>
            <a:endParaRPr sz="1200" b="1"/>
          </a:p>
          <a:p>
            <a:pPr marL="457200" lvl="0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-GB" sz="1200" b="1"/>
              <a:t>Predictive ML Model:</a:t>
            </a:r>
            <a:r>
              <a:rPr lang="en-GB" sz="1200"/>
              <a:t> A benchmarked algorithm capable of forecasting fire susceptibility </a:t>
            </a:r>
            <a:r>
              <a:rPr lang="en-GB" sz="1200" i="1"/>
              <a:t>before</a:t>
            </a:r>
            <a:r>
              <a:rPr lang="en-GB" sz="1200"/>
              <a:t> ignition.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 b="1"/>
              <a:t>Interactive Dashboard:</a:t>
            </a:r>
            <a:r>
              <a:rPr lang="en-GB" sz="1200"/>
              <a:t> A live geospatial map (built with Streamlit) highlighting Low, Medium, and High-risk zones.</a:t>
            </a:r>
            <a:endParaRPr sz="1200"/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GB" sz="1200" b="1"/>
              <a:t>Decision Support:</a:t>
            </a:r>
            <a:r>
              <a:rPr lang="en-GB" sz="1200"/>
              <a:t> A proactive tool that empowers emergency responders to allocate resources efficiently.</a:t>
            </a:r>
            <a:endParaRPr sz="12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3" name="Google Shape;493;p54"/>
          <p:cNvSpPr txBox="1">
            <a:spLocks noGrp="1"/>
          </p:cNvSpPr>
          <p:nvPr>
            <p:ph type="subTitle" idx="1"/>
          </p:nvPr>
        </p:nvSpPr>
        <p:spPr>
          <a:xfrm>
            <a:off x="828827" y="3136000"/>
            <a:ext cx="22404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4" name="Google Shape;494;p54"/>
          <p:cNvSpPr txBox="1">
            <a:spLocks noGrp="1"/>
          </p:cNvSpPr>
          <p:nvPr>
            <p:ph type="subTitle" idx="2"/>
          </p:nvPr>
        </p:nvSpPr>
        <p:spPr>
          <a:xfrm>
            <a:off x="3451796" y="3136000"/>
            <a:ext cx="22404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5" name="Google Shape;495;p54"/>
          <p:cNvSpPr txBox="1">
            <a:spLocks noGrp="1"/>
          </p:cNvSpPr>
          <p:nvPr>
            <p:ph type="subTitle" idx="3"/>
          </p:nvPr>
        </p:nvSpPr>
        <p:spPr>
          <a:xfrm>
            <a:off x="6074773" y="3136000"/>
            <a:ext cx="2240400" cy="8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6" name="Google Shape;496;p54"/>
          <p:cNvSpPr txBox="1">
            <a:spLocks noGrp="1"/>
          </p:cNvSpPr>
          <p:nvPr>
            <p:ph type="subTitle" idx="4"/>
          </p:nvPr>
        </p:nvSpPr>
        <p:spPr>
          <a:xfrm>
            <a:off x="828827" y="2899150"/>
            <a:ext cx="22404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7" name="Google Shape;497;p54"/>
          <p:cNvSpPr txBox="1">
            <a:spLocks noGrp="1"/>
          </p:cNvSpPr>
          <p:nvPr>
            <p:ph type="subTitle" idx="5"/>
          </p:nvPr>
        </p:nvSpPr>
        <p:spPr>
          <a:xfrm>
            <a:off x="3451796" y="2899150"/>
            <a:ext cx="22404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98" name="Google Shape;498;p54"/>
          <p:cNvSpPr txBox="1">
            <a:spLocks noGrp="1"/>
          </p:cNvSpPr>
          <p:nvPr>
            <p:ph type="subTitle" idx="6"/>
          </p:nvPr>
        </p:nvSpPr>
        <p:spPr>
          <a:xfrm>
            <a:off x="6074773" y="2899150"/>
            <a:ext cx="22404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499" name="Google Shape;499;p5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4025" y="0"/>
            <a:ext cx="9143999" cy="5211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6"/>
          <p:cNvSpPr txBox="1">
            <a:spLocks noGrp="1"/>
          </p:cNvSpPr>
          <p:nvPr>
            <p:ph type="title"/>
          </p:nvPr>
        </p:nvSpPr>
        <p:spPr>
          <a:xfrm>
            <a:off x="481900" y="-1928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/>
              <a:t>Implementation </a:t>
            </a:r>
            <a:endParaRPr sz="2500"/>
          </a:p>
        </p:txBody>
      </p:sp>
      <p:sp>
        <p:nvSpPr>
          <p:cNvPr id="517" name="Google Shape;517;p56"/>
          <p:cNvSpPr txBox="1"/>
          <p:nvPr/>
        </p:nvSpPr>
        <p:spPr>
          <a:xfrm>
            <a:off x="481900" y="697325"/>
            <a:ext cx="7500900" cy="40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• Data Collection</a:t>
            </a:r>
            <a:br>
              <a:rPr lang="en-GB" sz="1100" b="1"/>
            </a:br>
            <a:r>
              <a:rPr lang="en-GB" sz="1100"/>
              <a:t> Real-world wildfire, satellite and weather data are collected through NASA FIRMS, Open-Meteo and satellite sources.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• Data Processing</a:t>
            </a:r>
            <a:br>
              <a:rPr lang="en-GB" sz="1100" b="1"/>
            </a:br>
            <a:r>
              <a:rPr lang="en-GB" sz="1100"/>
              <a:t> Collected data is cleaned and aligned spatially and temporally before being integrated into a unified dataset.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• Feature Engineering</a:t>
            </a:r>
            <a:br>
              <a:rPr lang="en-GB" sz="1100" b="1"/>
            </a:br>
            <a:r>
              <a:rPr lang="en-GB" sz="1100"/>
              <a:t> Environmental and weather indicators such as NDVI, NDMI, drying power and fuel combustibility are derived.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• Model Development</a:t>
            </a:r>
            <a:br>
              <a:rPr lang="en-GB" sz="1100" b="1"/>
            </a:br>
            <a:r>
              <a:rPr lang="en-GB" sz="1100"/>
              <a:t> Random Forest and XGBoost are trained using SMOTE, cross-validation and hyperparameter tuning.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• Risk Prediction</a:t>
            </a:r>
            <a:br>
              <a:rPr lang="en-GB" sz="1100" b="1"/>
            </a:br>
            <a:r>
              <a:rPr lang="en-GB" sz="1100"/>
              <a:t> The selected model predicts location-specific wildfire risk as </a:t>
            </a:r>
            <a:r>
              <a:rPr lang="en-GB" sz="1100" b="1"/>
              <a:t>Low, Medium or High</a:t>
            </a:r>
            <a:r>
              <a:rPr lang="en-GB" sz="1100"/>
              <a:t>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• Explainability &amp; Deployment</a:t>
            </a:r>
            <a:br>
              <a:rPr lang="en-GB" sz="1100" b="1"/>
            </a:br>
            <a:r>
              <a:rPr lang="en-GB" sz="1100"/>
              <a:t> SHAP explains the factors behind predictions, while </a:t>
            </a:r>
            <a:r>
              <a:rPr lang="en-GB" sz="1100" b="1"/>
              <a:t>Streamlit + Folium</a:t>
            </a:r>
            <a:r>
              <a:rPr lang="en-GB" sz="1100"/>
              <a:t> provide an interactive risk dashboard.</a:t>
            </a:r>
            <a:endParaRPr sz="1100"/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GB" sz="1300" b="1"/>
              <a:t>Bottom statement</a:t>
            </a:r>
            <a:endParaRPr sz="13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 b="1"/>
              <a:t>Data → Processing → ML → Risk Prediction → Explainable Decision Support</a:t>
            </a:r>
            <a:endParaRPr sz="1100"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0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60"/>
          <p:cNvSpPr txBox="1"/>
          <p:nvPr/>
        </p:nvSpPr>
        <p:spPr>
          <a:xfrm>
            <a:off x="275925" y="1760050"/>
            <a:ext cx="4755900" cy="20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100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Thank You</a:t>
            </a:r>
            <a:endParaRPr sz="7100" b="1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BY     </a:t>
            </a:r>
            <a:r>
              <a:rPr lang="en-GB" sz="1100" b="1">
                <a:latin typeface="Figtree"/>
                <a:ea typeface="Figtree"/>
                <a:cs typeface="Figtree"/>
                <a:sym typeface="Figtree"/>
              </a:rPr>
              <a:t>Ch. Aditya  </a:t>
            </a:r>
            <a:endParaRPr sz="1100" b="1">
              <a:latin typeface="Figtree"/>
              <a:ea typeface="Figtree"/>
              <a:cs typeface="Figtree"/>
              <a:sym typeface="Figtree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100" b="1">
                <a:latin typeface="Figtree"/>
                <a:ea typeface="Figtree"/>
                <a:cs typeface="Figtree"/>
                <a:sym typeface="Figtree"/>
              </a:rPr>
              <a:t>A.Aaryan</a:t>
            </a:r>
            <a:endParaRPr sz="1100" b="1">
              <a:latin typeface="Figtree"/>
              <a:ea typeface="Figtree"/>
              <a:cs typeface="Figtree"/>
              <a:sym typeface="Figtree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100" b="1">
                <a:latin typeface="Figtree"/>
                <a:ea typeface="Figtree"/>
                <a:cs typeface="Figtree"/>
                <a:sym typeface="Figtree"/>
              </a:rPr>
              <a:t>K. Gokul</a:t>
            </a:r>
            <a:endParaRPr sz="1600" b="1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100" b="1">
                <a:latin typeface="Figtree"/>
                <a:ea typeface="Figtree"/>
                <a:cs typeface="Figtree"/>
                <a:sym typeface="Figtree"/>
              </a:rPr>
              <a:t>M. Sathwik</a:t>
            </a:r>
            <a:endParaRPr sz="1600" b="1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r>
              <a:rPr lang="en-GB" sz="1100" b="1">
                <a:latin typeface="Figtree"/>
                <a:ea typeface="Figtree"/>
                <a:cs typeface="Figtree"/>
                <a:sym typeface="Figtree"/>
              </a:rPr>
              <a:t>Y. Gokul</a:t>
            </a:r>
            <a:endParaRPr b="1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rPr>
              <a:t>       </a:t>
            </a:r>
            <a:endParaRPr b="1">
              <a:solidFill>
                <a:schemeClr val="dk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540" name="Google Shape;540;p6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1"/>
          <a:srcRect l="199" r="199"/>
          <a:stretch>
            <a:fillRect/>
          </a:stretch>
        </p:blipFill>
        <p:spPr>
          <a:xfrm flipH="1">
            <a:off x="5709901" y="-242450"/>
            <a:ext cx="3434099" cy="6096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1" name="Google Shape;541;p60"/>
          <p:cNvGrpSpPr/>
          <p:nvPr/>
        </p:nvGrpSpPr>
        <p:grpSpPr>
          <a:xfrm>
            <a:off x="5031828" y="-285751"/>
            <a:ext cx="2267576" cy="6096252"/>
            <a:chOff x="5579076" y="-25937"/>
            <a:chExt cx="2267576" cy="5195375"/>
          </a:xfrm>
        </p:grpSpPr>
        <p:pic>
          <p:nvPicPr>
            <p:cNvPr id="542" name="Google Shape;542;p60"/>
            <p:cNvPicPr preferRelativeResize="0"/>
            <p:nvPr/>
          </p:nvPicPr>
          <p:blipFill rotWithShape="1">
            <a:blip r:embed="rId2"/>
            <a:srcRect t="61753"/>
            <a:stretch>
              <a:fillRect/>
            </a:stretch>
          </p:blipFill>
          <p:spPr>
            <a:xfrm rot="-5400000" flipH="1">
              <a:off x="4115176" y="1437962"/>
              <a:ext cx="5195375" cy="2267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3" name="Google Shape;543;p60"/>
            <p:cNvPicPr preferRelativeResize="0"/>
            <p:nvPr/>
          </p:nvPicPr>
          <p:blipFill rotWithShape="1">
            <a:blip r:embed="rId2"/>
            <a:srcRect t="61753"/>
            <a:stretch>
              <a:fillRect/>
            </a:stretch>
          </p:blipFill>
          <p:spPr>
            <a:xfrm rot="-5400000" flipH="1">
              <a:off x="4115176" y="1437962"/>
              <a:ext cx="5195375" cy="2267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4" name="Google Shape;544;p60"/>
            <p:cNvPicPr preferRelativeResize="0"/>
            <p:nvPr/>
          </p:nvPicPr>
          <p:blipFill rotWithShape="1">
            <a:blip r:embed="rId2"/>
            <a:srcRect t="61753"/>
            <a:stretch>
              <a:fillRect/>
            </a:stretch>
          </p:blipFill>
          <p:spPr>
            <a:xfrm rot="-5400000" flipH="1">
              <a:off x="4115176" y="1437962"/>
              <a:ext cx="5195375" cy="22675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5" name="Google Shape;545;p60"/>
            <p:cNvPicPr preferRelativeResize="0"/>
            <p:nvPr/>
          </p:nvPicPr>
          <p:blipFill rotWithShape="1">
            <a:blip r:embed="rId2"/>
            <a:srcRect t="61753"/>
            <a:stretch>
              <a:fillRect/>
            </a:stretch>
          </p:blipFill>
          <p:spPr>
            <a:xfrm rot="-5400000" flipH="1">
              <a:off x="4115176" y="1437962"/>
              <a:ext cx="5195375" cy="22675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ire, Drought and Deforestation Relationships Thesis Defense by Slidesgo">
  <a:themeElements>
    <a:clrScheme name="Simple Light">
      <a:dk1>
        <a:srgbClr val="2F3536"/>
      </a:dk1>
      <a:lt1>
        <a:srgbClr val="F5F5F5"/>
      </a:lt1>
      <a:dk2>
        <a:srgbClr val="838383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F353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8158</Words>
  <Application>WPS Presentation</Application>
  <PresentationFormat>On-screen Show (16:9)</PresentationFormat>
  <Paragraphs>236</Paragraphs>
  <Slides>15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2" baseType="lpstr">
      <vt:lpstr>Arial</vt:lpstr>
      <vt:lpstr>SimSun</vt:lpstr>
      <vt:lpstr>Wingdings</vt:lpstr>
      <vt:lpstr>Arial</vt:lpstr>
      <vt:lpstr>Figtree</vt:lpstr>
      <vt:lpstr>Assistant</vt:lpstr>
      <vt:lpstr>DM Sans</vt:lpstr>
      <vt:lpstr>Figtree SemiBold</vt:lpstr>
      <vt:lpstr>Assistant Light</vt:lpstr>
      <vt:lpstr>Nunito Light</vt:lpstr>
      <vt:lpstr>Segoe Print</vt:lpstr>
      <vt:lpstr>Noto Sans Light</vt:lpstr>
      <vt:lpstr>Encode Sans</vt:lpstr>
      <vt:lpstr>Microsoft YaHei</vt:lpstr>
      <vt:lpstr>Arial Unicode MS</vt:lpstr>
      <vt:lpstr>Simple Light</vt:lpstr>
      <vt:lpstr>Fire, Drought and Deforestation Relationships Thesis Defense by Slidesgo</vt:lpstr>
      <vt:lpstr>Machine Learning-Based Wildfire Risk Prediction Using Satellite and Weather Data</vt:lpstr>
      <vt:lpstr>08</vt:lpstr>
      <vt:lpstr>Problem Statement</vt:lpstr>
      <vt:lpstr> Early Monitoring &amp; Action </vt:lpstr>
      <vt:lpstr>OBJECTIVES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Feasibility Analysis </vt:lpstr>
      <vt:lpstr>Plan &amp; Expected Outcomes </vt:lpstr>
      <vt:lpstr>PowerPoint 演示文稿</vt:lpstr>
      <vt:lpstr>Implementation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Kavuri Gokul</cp:lastModifiedBy>
  <cp:revision>2</cp:revision>
  <dcterms:created xsi:type="dcterms:W3CDTF">2026-10-30T08:19:22Z</dcterms:created>
  <dcterms:modified xsi:type="dcterms:W3CDTF">2026-10-30T08:28:04Z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B1316F9BC17143ED91EFF3557559D4A8_13</vt:lpwstr>
  </property>
  <property fmtid="{D5CDD505-2E9C-101B-9397-08002B2CF9AE}" pid="3" name="KSOProductBuildVer">
    <vt:lpwstr>2057-12.2.0.23206</vt:lpwstr>
  </property>
</Properties>
</file>