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7" r:id="rId25"/>
    <p:sldId id="275" r:id="rId26"/>
  </p:sldIdLst>
  <p:sldSz cx="9144000" cy="5143500" type="screen16x9"/>
  <p:notesSz cx="6858000" cy="9144000"/>
  <p:embeddedFontLst>
    <p:embeddedFont>
      <p:font typeface="Figtree"/>
      <p:regular r:id="rId30"/>
    </p:embeddedFont>
    <p:embeddedFont>
      <p:font typeface="Assistant"/>
      <p:regular r:id="rId31"/>
    </p:embeddedFont>
    <p:embeddedFont>
      <p:font typeface="DM Sans"/>
      <p:regular r:id="rId32"/>
    </p:embeddedFont>
    <p:embeddedFont>
      <p:font typeface="Figtree SemiBold"/>
      <p:bold r:id="rId33"/>
      <p:boldItalic r:id="rId34"/>
    </p:embeddedFont>
    <p:embeddedFont>
      <p:font typeface="Assistant Light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7766D48-B327-4EA1-AB54-F5FB673F19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38" d="100"/>
          <a:sy n="138" d="100"/>
        </p:scale>
        <p:origin x="83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9aee584ec_2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g3f9aee584ec_2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9aee584ec_2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3f9aee584ec_2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9aee584ec_2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3f9aee584ec_2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9aee584ec_2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g3f9aee584ec_2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9aee584ec_2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3f9aee584ec_2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9aee584ec_2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g3f9aee584ec_2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9aee584ec_2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3f9aee584ec_2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9aee584ec_2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g3f9aee584ec_2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9aee584ec_4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f9aee584ec_4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9aee584ec_2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3f9aee584ec_2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9aee584ec_2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g3f9aee584ec_2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9aee584ec_2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g3f9aee584ec_2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b82cf06d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fb82cf06d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b82cf06d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fb82cf06d1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b82cf06d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fb82cf06d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b82cf06d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fb82cf06d1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b82cf06d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fb82cf06d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b82cf06d1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fb82cf06d1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b82cf06d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fb82cf06d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9aee584ec_2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g3f9aee584ec_2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 rot="5400000">
            <a:off x="820475" y="-3148402"/>
            <a:ext cx="7333599" cy="9288401"/>
            <a:chOff x="992698" y="-3"/>
            <a:chExt cx="4102025" cy="5143934"/>
          </a:xfrm>
        </p:grpSpPr>
        <p:pic>
          <p:nvPicPr>
            <p:cNvPr id="55" name="Google Shape;55;p1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713225" y="919663"/>
            <a:ext cx="4382100" cy="26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713225" y="3620063"/>
            <a:ext cx="219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14"/>
          <p:cNvSpPr>
            <a:spLocks noGrp="1"/>
          </p:cNvSpPr>
          <p:nvPr>
            <p:ph type="pic" idx="2"/>
          </p:nvPr>
        </p:nvSpPr>
        <p:spPr>
          <a:xfrm flipH="1">
            <a:off x="5729953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 rot="5400000" flipH="1">
            <a:off x="905200" y="-1243401"/>
            <a:ext cx="7333599" cy="9288401"/>
            <a:chOff x="992698" y="-3"/>
            <a:chExt cx="4102025" cy="5143934"/>
          </a:xfrm>
        </p:grpSpPr>
        <p:pic>
          <p:nvPicPr>
            <p:cNvPr id="64" name="Google Shape;64;p1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6"/>
          <p:cNvGrpSpPr/>
          <p:nvPr/>
        </p:nvGrpSpPr>
        <p:grpSpPr>
          <a:xfrm rot="5400000">
            <a:off x="905200" y="-1243402"/>
            <a:ext cx="7333599" cy="9288401"/>
            <a:chOff x="992698" y="-3"/>
            <a:chExt cx="4102025" cy="5143934"/>
          </a:xfrm>
        </p:grpSpPr>
        <p:pic>
          <p:nvPicPr>
            <p:cNvPr id="72" name="Google Shape;72;p1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>
            <a:off x="2208473" y="149516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>
            <a:spLocks noGrp="1"/>
          </p:cNvSpPr>
          <p:nvPr>
            <p:ph type="subTitle" idx="2"/>
          </p:nvPr>
        </p:nvSpPr>
        <p:spPr>
          <a:xfrm>
            <a:off x="5638108" y="1495178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>
            <a:spLocks noGrp="1"/>
          </p:cNvSpPr>
          <p:nvPr>
            <p:ph type="subTitle" idx="3"/>
          </p:nvPr>
        </p:nvSpPr>
        <p:spPr>
          <a:xfrm>
            <a:off x="5638108" y="262521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>
            <a:spLocks noGrp="1"/>
          </p:cNvSpPr>
          <p:nvPr>
            <p:ph type="subTitle" idx="4"/>
          </p:nvPr>
        </p:nvSpPr>
        <p:spPr>
          <a:xfrm>
            <a:off x="2208473" y="262521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>
            <a:spLocks noGrp="1"/>
          </p:cNvSpPr>
          <p:nvPr>
            <p:ph type="title" idx="5"/>
          </p:nvPr>
        </p:nvSpPr>
        <p:spPr>
          <a:xfrm>
            <a:off x="1297892" y="1487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2" name="Google Shape;82;p16"/>
          <p:cNvSpPr txBox="1">
            <a:spLocks noGrp="1"/>
          </p:cNvSpPr>
          <p:nvPr>
            <p:ph type="title" idx="6"/>
          </p:nvPr>
        </p:nvSpPr>
        <p:spPr>
          <a:xfrm>
            <a:off x="4731212" y="2640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>
            <a:spLocks noGrp="1"/>
          </p:cNvSpPr>
          <p:nvPr>
            <p:ph type="title" idx="7"/>
          </p:nvPr>
        </p:nvSpPr>
        <p:spPr>
          <a:xfrm>
            <a:off x="4731212" y="1487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title" idx="8"/>
          </p:nvPr>
        </p:nvSpPr>
        <p:spPr>
          <a:xfrm>
            <a:off x="1297892" y="2640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subTitle" idx="9"/>
          </p:nvPr>
        </p:nvSpPr>
        <p:spPr>
          <a:xfrm>
            <a:off x="5638108" y="375526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ubTitle" idx="13"/>
          </p:nvPr>
        </p:nvSpPr>
        <p:spPr>
          <a:xfrm>
            <a:off x="2208473" y="375526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>
            <a:spLocks noGrp="1"/>
          </p:cNvSpPr>
          <p:nvPr>
            <p:ph type="title" idx="14"/>
          </p:nvPr>
        </p:nvSpPr>
        <p:spPr>
          <a:xfrm>
            <a:off x="4731212" y="37706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6"/>
          <p:cNvSpPr txBox="1">
            <a:spLocks noGrp="1"/>
          </p:cNvSpPr>
          <p:nvPr>
            <p:ph type="title" idx="15"/>
          </p:nvPr>
        </p:nvSpPr>
        <p:spPr>
          <a:xfrm>
            <a:off x="1297892" y="37706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9" name="Google Shape;89;p16"/>
          <p:cNvSpPr txBox="1">
            <a:spLocks noGrp="1"/>
          </p:cNvSpPr>
          <p:nvPr>
            <p:ph type="subTitle" idx="16"/>
          </p:nvPr>
        </p:nvSpPr>
        <p:spPr>
          <a:xfrm>
            <a:off x="2208473" y="131882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0" name="Google Shape;90;p16"/>
          <p:cNvSpPr txBox="1">
            <a:spLocks noGrp="1"/>
          </p:cNvSpPr>
          <p:nvPr>
            <p:ph type="subTitle" idx="17"/>
          </p:nvPr>
        </p:nvSpPr>
        <p:spPr>
          <a:xfrm>
            <a:off x="5638108" y="1318836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16"/>
          <p:cNvSpPr txBox="1">
            <a:spLocks noGrp="1"/>
          </p:cNvSpPr>
          <p:nvPr>
            <p:ph type="subTitle" idx="18"/>
          </p:nvPr>
        </p:nvSpPr>
        <p:spPr>
          <a:xfrm>
            <a:off x="5638108" y="2448886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6"/>
          <p:cNvSpPr txBox="1">
            <a:spLocks noGrp="1"/>
          </p:cNvSpPr>
          <p:nvPr>
            <p:ph type="subTitle" idx="19"/>
          </p:nvPr>
        </p:nvSpPr>
        <p:spPr>
          <a:xfrm>
            <a:off x="2208473" y="244887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6"/>
          <p:cNvSpPr txBox="1">
            <a:spLocks noGrp="1"/>
          </p:cNvSpPr>
          <p:nvPr>
            <p:ph type="subTitle" idx="20"/>
          </p:nvPr>
        </p:nvSpPr>
        <p:spPr>
          <a:xfrm>
            <a:off x="5638108" y="357892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6"/>
          <p:cNvSpPr txBox="1">
            <a:spLocks noGrp="1"/>
          </p:cNvSpPr>
          <p:nvPr>
            <p:ph type="subTitle" idx="21"/>
          </p:nvPr>
        </p:nvSpPr>
        <p:spPr>
          <a:xfrm>
            <a:off x="2208473" y="357892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95" name="Google Shape;95;p1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7"/>
          <p:cNvGrpSpPr/>
          <p:nvPr/>
        </p:nvGrpSpPr>
        <p:grpSpPr>
          <a:xfrm rot="5400000" flipH="1">
            <a:off x="971373" y="-1014801"/>
            <a:ext cx="7333599" cy="9288401"/>
            <a:chOff x="992698" y="-3"/>
            <a:chExt cx="4102025" cy="5143934"/>
          </a:xfrm>
        </p:grpSpPr>
        <p:pic>
          <p:nvPicPr>
            <p:cNvPr id="98" name="Google Shape;98;p1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742800" y="2550700"/>
            <a:ext cx="4127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17"/>
          <p:cNvSpPr txBox="1">
            <a:spLocks noGrp="1"/>
          </p:cNvSpPr>
          <p:nvPr>
            <p:ph type="title" idx="2"/>
          </p:nvPr>
        </p:nvSpPr>
        <p:spPr>
          <a:xfrm>
            <a:off x="742800" y="1563284"/>
            <a:ext cx="10974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4" name="Google Shape;104;p17"/>
          <p:cNvSpPr txBox="1">
            <a:spLocks noGrp="1"/>
          </p:cNvSpPr>
          <p:nvPr>
            <p:ph type="subTitle" idx="1"/>
          </p:nvPr>
        </p:nvSpPr>
        <p:spPr>
          <a:xfrm>
            <a:off x="742800" y="3406675"/>
            <a:ext cx="4127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7"/>
          <p:cNvSpPr>
            <a:spLocks noGrp="1"/>
          </p:cNvSpPr>
          <p:nvPr>
            <p:ph type="pic" idx="3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8"/>
          <p:cNvGrpSpPr/>
          <p:nvPr/>
        </p:nvGrpSpPr>
        <p:grpSpPr>
          <a:xfrm rot="5400000" flipH="1">
            <a:off x="905200" y="-1243401"/>
            <a:ext cx="7333599" cy="9288401"/>
            <a:chOff x="992698" y="-3"/>
            <a:chExt cx="4102025" cy="5143934"/>
          </a:xfrm>
        </p:grpSpPr>
        <p:pic>
          <p:nvPicPr>
            <p:cNvPr id="108" name="Google Shape;108;p1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18"/>
          <p:cNvSpPr txBox="1">
            <a:spLocks noGrp="1"/>
          </p:cNvSpPr>
          <p:nvPr>
            <p:ph type="subTitle" idx="1"/>
          </p:nvPr>
        </p:nvSpPr>
        <p:spPr>
          <a:xfrm>
            <a:off x="720000" y="1505182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>
            <a:spLocks noGrp="1"/>
          </p:cNvSpPr>
          <p:nvPr>
            <p:ph type="subTitle" idx="2"/>
          </p:nvPr>
        </p:nvSpPr>
        <p:spPr>
          <a:xfrm>
            <a:off x="720000" y="2617361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>
            <a:spLocks noGrp="1"/>
          </p:cNvSpPr>
          <p:nvPr>
            <p:ph type="subTitle" idx="3"/>
          </p:nvPr>
        </p:nvSpPr>
        <p:spPr>
          <a:xfrm>
            <a:off x="720000" y="3737861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>
            <a:spLocks noGrp="1"/>
          </p:cNvSpPr>
          <p:nvPr>
            <p:ph type="subTitle" idx="4"/>
          </p:nvPr>
        </p:nvSpPr>
        <p:spPr>
          <a:xfrm>
            <a:off x="720000" y="1241271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7" name="Google Shape;117;p18"/>
          <p:cNvSpPr txBox="1">
            <a:spLocks noGrp="1"/>
          </p:cNvSpPr>
          <p:nvPr>
            <p:ph type="subTitle" idx="5"/>
          </p:nvPr>
        </p:nvSpPr>
        <p:spPr>
          <a:xfrm>
            <a:off x="720000" y="2350125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8"/>
          <p:cNvSpPr txBox="1">
            <a:spLocks noGrp="1"/>
          </p:cNvSpPr>
          <p:nvPr>
            <p:ph type="subTitle" idx="6"/>
          </p:nvPr>
        </p:nvSpPr>
        <p:spPr>
          <a:xfrm>
            <a:off x="720000" y="3470625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22" name="Google Shape;122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" name="Google Shape;126;p19"/>
          <p:cNvGrpSpPr/>
          <p:nvPr/>
        </p:nvGrpSpPr>
        <p:grpSpPr>
          <a:xfrm rot="-5400000">
            <a:off x="818974" y="-862401"/>
            <a:ext cx="7333599" cy="9288401"/>
            <a:chOff x="992698" y="-3"/>
            <a:chExt cx="4102025" cy="5143934"/>
          </a:xfrm>
        </p:grpSpPr>
        <p:pic>
          <p:nvPicPr>
            <p:cNvPr id="127" name="Google Shape;127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19"/>
          <p:cNvSpPr>
            <a:spLocks noGrp="1"/>
          </p:cNvSpPr>
          <p:nvPr>
            <p:ph type="pic" idx="2"/>
          </p:nvPr>
        </p:nvSpPr>
        <p:spPr>
          <a:xfrm flipH="1">
            <a:off x="-97850" y="-14251"/>
            <a:ext cx="3434100" cy="5172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" name="Google Shape;132;p19"/>
          <p:cNvGrpSpPr/>
          <p:nvPr/>
        </p:nvGrpSpPr>
        <p:grpSpPr>
          <a:xfrm>
            <a:off x="1556750" y="-265299"/>
            <a:ext cx="5928976" cy="5409350"/>
            <a:chOff x="992699" y="1"/>
            <a:chExt cx="5928976" cy="5143924"/>
          </a:xfrm>
        </p:grpSpPr>
        <p:pic>
          <p:nvPicPr>
            <p:cNvPr id="133" name="Google Shape;133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3614600" y="3369850"/>
            <a:ext cx="4572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8" name="Google Shape;138;p19"/>
          <p:cNvSpPr txBox="1">
            <a:spLocks noGrp="1"/>
          </p:cNvSpPr>
          <p:nvPr>
            <p:ph type="subTitle" idx="1"/>
          </p:nvPr>
        </p:nvSpPr>
        <p:spPr>
          <a:xfrm>
            <a:off x="3614600" y="1224950"/>
            <a:ext cx="4572600" cy="21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20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142" name="Google Shape;142;p2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2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2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20"/>
          <p:cNvSpPr txBox="1">
            <a:spLocks noGrp="1"/>
          </p:cNvSpPr>
          <p:nvPr>
            <p:ph type="title" hasCustomPrompt="1"/>
          </p:nvPr>
        </p:nvSpPr>
        <p:spPr>
          <a:xfrm>
            <a:off x="716925" y="1811602"/>
            <a:ext cx="4449600" cy="9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1"/>
          </p:nvPr>
        </p:nvSpPr>
        <p:spPr>
          <a:xfrm>
            <a:off x="716921" y="2720588"/>
            <a:ext cx="444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8" name="Google Shape;148;p20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1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51" name="Google Shape;151;p2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2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3595200" y="803021"/>
            <a:ext cx="4696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1"/>
          <p:cNvSpPr txBox="1">
            <a:spLocks noGrp="1"/>
          </p:cNvSpPr>
          <p:nvPr>
            <p:ph type="subTitle" idx="1"/>
          </p:nvPr>
        </p:nvSpPr>
        <p:spPr>
          <a:xfrm>
            <a:off x="3595200" y="1347592"/>
            <a:ext cx="469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1"/>
          <p:cNvSpPr txBox="1">
            <a:spLocks noGrp="1"/>
          </p:cNvSpPr>
          <p:nvPr>
            <p:ph type="title" idx="2"/>
          </p:nvPr>
        </p:nvSpPr>
        <p:spPr>
          <a:xfrm>
            <a:off x="3595200" y="2116602"/>
            <a:ext cx="4696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21"/>
          <p:cNvSpPr txBox="1">
            <a:spLocks noGrp="1"/>
          </p:cNvSpPr>
          <p:nvPr>
            <p:ph type="subTitle" idx="3"/>
          </p:nvPr>
        </p:nvSpPr>
        <p:spPr>
          <a:xfrm>
            <a:off x="3595200" y="2661173"/>
            <a:ext cx="469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1"/>
          <p:cNvSpPr txBox="1">
            <a:spLocks noGrp="1"/>
          </p:cNvSpPr>
          <p:nvPr>
            <p:ph type="title" idx="4"/>
          </p:nvPr>
        </p:nvSpPr>
        <p:spPr>
          <a:xfrm>
            <a:off x="3595200" y="3430208"/>
            <a:ext cx="4696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21"/>
          <p:cNvSpPr txBox="1">
            <a:spLocks noGrp="1"/>
          </p:cNvSpPr>
          <p:nvPr>
            <p:ph type="subTitle" idx="5"/>
          </p:nvPr>
        </p:nvSpPr>
        <p:spPr>
          <a:xfrm>
            <a:off x="3595200" y="3974779"/>
            <a:ext cx="469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1"/>
          <p:cNvSpPr>
            <a:spLocks noGrp="1"/>
          </p:cNvSpPr>
          <p:nvPr>
            <p:ph type="pic" idx="6"/>
          </p:nvPr>
        </p:nvSpPr>
        <p:spPr>
          <a:xfrm flipH="1">
            <a:off x="0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2" name="Google Shape;162;p21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2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165" name="Google Shape;165;p2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22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1368375" y="1298363"/>
            <a:ext cx="3528600" cy="17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22"/>
          <p:cNvSpPr txBox="1">
            <a:spLocks noGrp="1"/>
          </p:cNvSpPr>
          <p:nvPr>
            <p:ph type="subTitle" idx="1"/>
          </p:nvPr>
        </p:nvSpPr>
        <p:spPr>
          <a:xfrm>
            <a:off x="1368374" y="2975265"/>
            <a:ext cx="3528600" cy="8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2" name="Google Shape;172;p22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23"/>
          <p:cNvSpPr txBox="1">
            <a:spLocks noGrp="1"/>
          </p:cNvSpPr>
          <p:nvPr>
            <p:ph type="title"/>
          </p:nvPr>
        </p:nvSpPr>
        <p:spPr>
          <a:xfrm>
            <a:off x="4795375" y="3464675"/>
            <a:ext cx="3635400" cy="114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76" name="Google Shape;176;p23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4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79" name="Google Shape;179;p2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4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3434100" cy="51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4"/>
          <p:cNvSpPr txBox="1">
            <a:spLocks noGrp="1"/>
          </p:cNvSpPr>
          <p:nvPr>
            <p:ph type="title"/>
          </p:nvPr>
        </p:nvSpPr>
        <p:spPr>
          <a:xfrm>
            <a:off x="4311450" y="1643550"/>
            <a:ext cx="3883500" cy="18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85" name="Google Shape;185;p24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5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88" name="Google Shape;188;p2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3" name="Google Shape;193;p25"/>
          <p:cNvSpPr txBox="1">
            <a:spLocks noGrp="1"/>
          </p:cNvSpPr>
          <p:nvPr>
            <p:ph type="subTitle" idx="1"/>
          </p:nvPr>
        </p:nvSpPr>
        <p:spPr>
          <a:xfrm>
            <a:off x="2076823" y="144180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5"/>
          <p:cNvSpPr txBox="1">
            <a:spLocks noGrp="1"/>
          </p:cNvSpPr>
          <p:nvPr>
            <p:ph type="subTitle" idx="2"/>
          </p:nvPr>
        </p:nvSpPr>
        <p:spPr>
          <a:xfrm>
            <a:off x="2076831" y="260425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 txBox="1">
            <a:spLocks noGrp="1"/>
          </p:cNvSpPr>
          <p:nvPr>
            <p:ph type="subTitle" idx="3"/>
          </p:nvPr>
        </p:nvSpPr>
        <p:spPr>
          <a:xfrm>
            <a:off x="2076831" y="3772818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5"/>
          <p:cNvSpPr txBox="1">
            <a:spLocks noGrp="1"/>
          </p:cNvSpPr>
          <p:nvPr>
            <p:ph type="subTitle" idx="4"/>
          </p:nvPr>
        </p:nvSpPr>
        <p:spPr>
          <a:xfrm>
            <a:off x="2076823" y="1177425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7" name="Google Shape;197;p25"/>
          <p:cNvSpPr txBox="1">
            <a:spLocks noGrp="1"/>
          </p:cNvSpPr>
          <p:nvPr>
            <p:ph type="subTitle" idx="5"/>
          </p:nvPr>
        </p:nvSpPr>
        <p:spPr>
          <a:xfrm>
            <a:off x="2076823" y="2340901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8" name="Google Shape;198;p25"/>
          <p:cNvSpPr txBox="1">
            <a:spLocks noGrp="1"/>
          </p:cNvSpPr>
          <p:nvPr>
            <p:ph type="subTitle" idx="6"/>
          </p:nvPr>
        </p:nvSpPr>
        <p:spPr>
          <a:xfrm>
            <a:off x="2076823" y="3503352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99" name="Google Shape;199;p25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6"/>
          <p:cNvGrpSpPr/>
          <p:nvPr/>
        </p:nvGrpSpPr>
        <p:grpSpPr>
          <a:xfrm rot="5400000" flipH="1">
            <a:off x="905200" y="-1243401"/>
            <a:ext cx="7333599" cy="9288401"/>
            <a:chOff x="992698" y="-3"/>
            <a:chExt cx="4102025" cy="5143934"/>
          </a:xfrm>
        </p:grpSpPr>
        <p:pic>
          <p:nvPicPr>
            <p:cNvPr id="202" name="Google Shape;202;p2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7" name="Google Shape;207;p26"/>
          <p:cNvSpPr txBox="1">
            <a:spLocks noGrp="1"/>
          </p:cNvSpPr>
          <p:nvPr>
            <p:ph type="subTitle" idx="1"/>
          </p:nvPr>
        </p:nvSpPr>
        <p:spPr>
          <a:xfrm>
            <a:off x="828827" y="3136000"/>
            <a:ext cx="22404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6"/>
          <p:cNvSpPr txBox="1">
            <a:spLocks noGrp="1"/>
          </p:cNvSpPr>
          <p:nvPr>
            <p:ph type="subTitle" idx="2"/>
          </p:nvPr>
        </p:nvSpPr>
        <p:spPr>
          <a:xfrm>
            <a:off x="3451796" y="3136000"/>
            <a:ext cx="22404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6"/>
          <p:cNvSpPr txBox="1">
            <a:spLocks noGrp="1"/>
          </p:cNvSpPr>
          <p:nvPr>
            <p:ph type="subTitle" idx="3"/>
          </p:nvPr>
        </p:nvSpPr>
        <p:spPr>
          <a:xfrm>
            <a:off x="6074773" y="3136000"/>
            <a:ext cx="22404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6"/>
          <p:cNvSpPr txBox="1">
            <a:spLocks noGrp="1"/>
          </p:cNvSpPr>
          <p:nvPr>
            <p:ph type="subTitle" idx="4"/>
          </p:nvPr>
        </p:nvSpPr>
        <p:spPr>
          <a:xfrm>
            <a:off x="828827" y="289915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1" name="Google Shape;211;p26"/>
          <p:cNvSpPr txBox="1">
            <a:spLocks noGrp="1"/>
          </p:cNvSpPr>
          <p:nvPr>
            <p:ph type="subTitle" idx="5"/>
          </p:nvPr>
        </p:nvSpPr>
        <p:spPr>
          <a:xfrm>
            <a:off x="3451796" y="289915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2" name="Google Shape;212;p26"/>
          <p:cNvSpPr txBox="1">
            <a:spLocks noGrp="1"/>
          </p:cNvSpPr>
          <p:nvPr>
            <p:ph type="subTitle" idx="6"/>
          </p:nvPr>
        </p:nvSpPr>
        <p:spPr>
          <a:xfrm>
            <a:off x="6074773" y="289915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3" name="Google Shape;213;p2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2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7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17" name="Google Shape;217;p2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" name="Google Shape;22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2" name="Google Shape;222;p27"/>
          <p:cNvSpPr txBox="1">
            <a:spLocks noGrp="1"/>
          </p:cNvSpPr>
          <p:nvPr>
            <p:ph type="subTitle" idx="1"/>
          </p:nvPr>
        </p:nvSpPr>
        <p:spPr>
          <a:xfrm>
            <a:off x="1053002" y="2225404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7"/>
          <p:cNvSpPr txBox="1">
            <a:spLocks noGrp="1"/>
          </p:cNvSpPr>
          <p:nvPr>
            <p:ph type="subTitle" idx="2"/>
          </p:nvPr>
        </p:nvSpPr>
        <p:spPr>
          <a:xfrm>
            <a:off x="3523350" y="2225404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7"/>
          <p:cNvSpPr txBox="1">
            <a:spLocks noGrp="1"/>
          </p:cNvSpPr>
          <p:nvPr>
            <p:ph type="subTitle" idx="3"/>
          </p:nvPr>
        </p:nvSpPr>
        <p:spPr>
          <a:xfrm>
            <a:off x="1053002" y="4054485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7"/>
          <p:cNvSpPr txBox="1">
            <a:spLocks noGrp="1"/>
          </p:cNvSpPr>
          <p:nvPr>
            <p:ph type="subTitle" idx="4"/>
          </p:nvPr>
        </p:nvSpPr>
        <p:spPr>
          <a:xfrm>
            <a:off x="3523350" y="4054485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>
            <a:spLocks noGrp="1"/>
          </p:cNvSpPr>
          <p:nvPr>
            <p:ph type="subTitle" idx="5"/>
          </p:nvPr>
        </p:nvSpPr>
        <p:spPr>
          <a:xfrm>
            <a:off x="5993698" y="2225404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7"/>
          <p:cNvSpPr txBox="1">
            <a:spLocks noGrp="1"/>
          </p:cNvSpPr>
          <p:nvPr>
            <p:ph type="subTitle" idx="6"/>
          </p:nvPr>
        </p:nvSpPr>
        <p:spPr>
          <a:xfrm>
            <a:off x="5993698" y="4054485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7"/>
          <p:cNvSpPr txBox="1">
            <a:spLocks noGrp="1"/>
          </p:cNvSpPr>
          <p:nvPr>
            <p:ph type="subTitle" idx="7"/>
          </p:nvPr>
        </p:nvSpPr>
        <p:spPr>
          <a:xfrm>
            <a:off x="1051352" y="1961575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7"/>
          <p:cNvSpPr txBox="1">
            <a:spLocks noGrp="1"/>
          </p:cNvSpPr>
          <p:nvPr>
            <p:ph type="subTitle" idx="8"/>
          </p:nvPr>
        </p:nvSpPr>
        <p:spPr>
          <a:xfrm>
            <a:off x="3521700" y="1961575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27"/>
          <p:cNvSpPr txBox="1">
            <a:spLocks noGrp="1"/>
          </p:cNvSpPr>
          <p:nvPr>
            <p:ph type="subTitle" idx="9"/>
          </p:nvPr>
        </p:nvSpPr>
        <p:spPr>
          <a:xfrm>
            <a:off x="5992048" y="1961575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27"/>
          <p:cNvSpPr txBox="1">
            <a:spLocks noGrp="1"/>
          </p:cNvSpPr>
          <p:nvPr>
            <p:ph type="subTitle" idx="13"/>
          </p:nvPr>
        </p:nvSpPr>
        <p:spPr>
          <a:xfrm>
            <a:off x="1051352" y="3790460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" name="Google Shape;232;p27"/>
          <p:cNvSpPr txBox="1">
            <a:spLocks noGrp="1"/>
          </p:cNvSpPr>
          <p:nvPr>
            <p:ph type="subTitle" idx="14"/>
          </p:nvPr>
        </p:nvSpPr>
        <p:spPr>
          <a:xfrm>
            <a:off x="3521700" y="3790460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27"/>
          <p:cNvSpPr txBox="1">
            <a:spLocks noGrp="1"/>
          </p:cNvSpPr>
          <p:nvPr>
            <p:ph type="subTitle" idx="15"/>
          </p:nvPr>
        </p:nvSpPr>
        <p:spPr>
          <a:xfrm>
            <a:off x="5992048" y="3790460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34" name="Google Shape;234;p27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8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237" name="Google Shape;237;p2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2" name="Google Shape;242;p28"/>
          <p:cNvSpPr txBox="1">
            <a:spLocks noGrp="1"/>
          </p:cNvSpPr>
          <p:nvPr>
            <p:ph type="body" idx="1"/>
          </p:nvPr>
        </p:nvSpPr>
        <p:spPr>
          <a:xfrm>
            <a:off x="962850" y="1139550"/>
            <a:ext cx="72183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ssistant Light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243" name="Google Shape;243;p28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9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46" name="Google Shape;246;p2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1" name="Google Shape;251;p29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30"/>
          <p:cNvGrpSpPr/>
          <p:nvPr/>
        </p:nvGrpSpPr>
        <p:grpSpPr>
          <a:xfrm rot="5400000" flipH="1">
            <a:off x="922015" y="-1243401"/>
            <a:ext cx="7333599" cy="9288401"/>
            <a:chOff x="992698" y="-3"/>
            <a:chExt cx="4102025" cy="5143934"/>
          </a:xfrm>
        </p:grpSpPr>
        <p:pic>
          <p:nvPicPr>
            <p:cNvPr id="254" name="Google Shape;254;p3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3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3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3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" name="Google Shape;25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9" name="Google Shape;259;p30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62" name="Google Shape;262;p31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63" name="Google Shape;263;p31"/>
          <p:cNvGrpSpPr/>
          <p:nvPr/>
        </p:nvGrpSpPr>
        <p:grpSpPr>
          <a:xfrm rot="5400000">
            <a:off x="818973" y="-1243402"/>
            <a:ext cx="7333599" cy="9288401"/>
            <a:chOff x="992698" y="-3"/>
            <a:chExt cx="4102025" cy="5143934"/>
          </a:xfrm>
        </p:grpSpPr>
        <p:pic>
          <p:nvPicPr>
            <p:cNvPr id="264" name="Google Shape;264;p3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3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3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32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70" name="Google Shape;270;p3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3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3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3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4" name="Google Shape;274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5" name="Google Shape;275;p32"/>
          <p:cNvSpPr txBox="1">
            <a:spLocks noGrp="1"/>
          </p:cNvSpPr>
          <p:nvPr>
            <p:ph type="subTitle" idx="1"/>
          </p:nvPr>
        </p:nvSpPr>
        <p:spPr>
          <a:xfrm>
            <a:off x="4652965" y="1758722"/>
            <a:ext cx="3779400" cy="27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76" name="Google Shape;276;p32"/>
          <p:cNvSpPr txBox="1">
            <a:spLocks noGrp="1"/>
          </p:cNvSpPr>
          <p:nvPr>
            <p:ph type="subTitle" idx="2"/>
          </p:nvPr>
        </p:nvSpPr>
        <p:spPr>
          <a:xfrm>
            <a:off x="711638" y="1758722"/>
            <a:ext cx="3779400" cy="27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277" name="Google Shape;277;p32"/>
          <p:cNvSpPr txBox="1">
            <a:spLocks noGrp="1"/>
          </p:cNvSpPr>
          <p:nvPr>
            <p:ph type="subTitle" idx="3"/>
          </p:nvPr>
        </p:nvSpPr>
        <p:spPr>
          <a:xfrm>
            <a:off x="711638" y="1367075"/>
            <a:ext cx="3779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8" name="Google Shape;278;p32"/>
          <p:cNvSpPr txBox="1">
            <a:spLocks noGrp="1"/>
          </p:cNvSpPr>
          <p:nvPr>
            <p:ph type="subTitle" idx="4"/>
          </p:nvPr>
        </p:nvSpPr>
        <p:spPr>
          <a:xfrm>
            <a:off x="4652965" y="1367075"/>
            <a:ext cx="3779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79" name="Google Shape;279;p32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33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82" name="Google Shape;282;p33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3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33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33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" name="Google Shape;286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7" name="Google Shape;287;p33"/>
          <p:cNvSpPr txBox="1">
            <a:spLocks noGrp="1"/>
          </p:cNvSpPr>
          <p:nvPr>
            <p:ph type="subTitle" idx="1"/>
          </p:nvPr>
        </p:nvSpPr>
        <p:spPr>
          <a:xfrm>
            <a:off x="1929789" y="1621084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3"/>
          <p:cNvSpPr txBox="1">
            <a:spLocks noGrp="1"/>
          </p:cNvSpPr>
          <p:nvPr>
            <p:ph type="subTitle" idx="2"/>
          </p:nvPr>
        </p:nvSpPr>
        <p:spPr>
          <a:xfrm>
            <a:off x="5699472" y="1621084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3"/>
          <p:cNvSpPr txBox="1">
            <a:spLocks noGrp="1"/>
          </p:cNvSpPr>
          <p:nvPr>
            <p:ph type="subTitle" idx="3"/>
          </p:nvPr>
        </p:nvSpPr>
        <p:spPr>
          <a:xfrm>
            <a:off x="1929789" y="3205075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3"/>
          <p:cNvSpPr txBox="1">
            <a:spLocks noGrp="1"/>
          </p:cNvSpPr>
          <p:nvPr>
            <p:ph type="subTitle" idx="4"/>
          </p:nvPr>
        </p:nvSpPr>
        <p:spPr>
          <a:xfrm>
            <a:off x="5699472" y="3205075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3"/>
          <p:cNvSpPr txBox="1">
            <a:spLocks noGrp="1"/>
          </p:cNvSpPr>
          <p:nvPr>
            <p:ph type="subTitle" idx="5"/>
          </p:nvPr>
        </p:nvSpPr>
        <p:spPr>
          <a:xfrm>
            <a:off x="1929789" y="1444575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2" name="Google Shape;292;p33"/>
          <p:cNvSpPr txBox="1">
            <a:spLocks noGrp="1"/>
          </p:cNvSpPr>
          <p:nvPr>
            <p:ph type="subTitle" idx="6"/>
          </p:nvPr>
        </p:nvSpPr>
        <p:spPr>
          <a:xfrm>
            <a:off x="5699472" y="1444575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3" name="Google Shape;293;p33"/>
          <p:cNvSpPr txBox="1">
            <a:spLocks noGrp="1"/>
          </p:cNvSpPr>
          <p:nvPr>
            <p:ph type="subTitle" idx="7"/>
          </p:nvPr>
        </p:nvSpPr>
        <p:spPr>
          <a:xfrm>
            <a:off x="1929789" y="3028566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4" name="Google Shape;294;p33"/>
          <p:cNvSpPr txBox="1">
            <a:spLocks noGrp="1"/>
          </p:cNvSpPr>
          <p:nvPr>
            <p:ph type="subTitle" idx="8"/>
          </p:nvPr>
        </p:nvSpPr>
        <p:spPr>
          <a:xfrm>
            <a:off x="5699472" y="3028566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95" name="Google Shape;295;p33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34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298" name="Google Shape;298;p3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3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3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3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2" name="Google Shape;302;p34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4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4" name="Google Shape;304;p34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4883700" cy="29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305" name="Google Shape;305;p34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35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308" name="Google Shape;308;p3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3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3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 flipH="1">
            <a:off x="713190" y="1834050"/>
            <a:ext cx="28689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3" name="Google Shape;313;p35"/>
          <p:cNvSpPr txBox="1">
            <a:spLocks noGrp="1"/>
          </p:cNvSpPr>
          <p:nvPr>
            <p:ph type="subTitle" idx="1"/>
          </p:nvPr>
        </p:nvSpPr>
        <p:spPr>
          <a:xfrm flipH="1">
            <a:off x="713190" y="2211450"/>
            <a:ext cx="28689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14" name="Google Shape;314;p35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36"/>
          <p:cNvGrpSpPr/>
          <p:nvPr/>
        </p:nvGrpSpPr>
        <p:grpSpPr>
          <a:xfrm rot="5400000" flipH="1">
            <a:off x="818973" y="-710001"/>
            <a:ext cx="7333599" cy="9288401"/>
            <a:chOff x="992698" y="-3"/>
            <a:chExt cx="4102025" cy="5143934"/>
          </a:xfrm>
        </p:grpSpPr>
        <p:pic>
          <p:nvPicPr>
            <p:cNvPr id="317" name="Google Shape;317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36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322" name="Google Shape;322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" name="Google Shape;326;p36"/>
          <p:cNvSpPr txBox="1">
            <a:spLocks noGrp="1"/>
          </p:cNvSpPr>
          <p:nvPr>
            <p:ph type="title"/>
          </p:nvPr>
        </p:nvSpPr>
        <p:spPr>
          <a:xfrm>
            <a:off x="726900" y="540000"/>
            <a:ext cx="44481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7" name="Google Shape;327;p36"/>
          <p:cNvSpPr txBox="1">
            <a:spLocks noGrp="1"/>
          </p:cNvSpPr>
          <p:nvPr>
            <p:ph type="subTitle" idx="1"/>
          </p:nvPr>
        </p:nvSpPr>
        <p:spPr>
          <a:xfrm>
            <a:off x="726900" y="1618250"/>
            <a:ext cx="44481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36"/>
          <p:cNvSpPr txBox="1"/>
          <p:nvPr/>
        </p:nvSpPr>
        <p:spPr>
          <a:xfrm>
            <a:off x="726900" y="35357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/>
              </a:rPr>
              <a:t>Slidesgo</a:t>
            </a:r>
            <a:r>
              <a:rPr lang="en-GB" sz="12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GB"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and includes icons by</a:t>
            </a:r>
            <a:r>
              <a:rPr lang="en-GB" sz="12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/>
              </a:rPr>
              <a:t>Flaticon</a:t>
            </a:r>
            <a:r>
              <a:rPr lang="en-GB" sz="12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GB"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and infographics &amp; images by 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5"/>
              </a:rPr>
              <a:t>Freepik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1200" b="1" i="0" u="sng" strike="noStrike" cap="non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29" name="Google Shape;329;p36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30" name="Google Shape;330;p3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37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333" name="Google Shape;333;p3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3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3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3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7" name="Google Shape;337;p37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37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39" name="Google Shape;339;p37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39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343" name="Google Shape;343;p3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3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3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3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7" name="Google Shape;347;p39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40"/>
          <p:cNvGrpSpPr/>
          <p:nvPr/>
        </p:nvGrpSpPr>
        <p:grpSpPr>
          <a:xfrm rot="-5400000" flipH="1">
            <a:off x="818974" y="-1243402"/>
            <a:ext cx="7333599" cy="9288401"/>
            <a:chOff x="992698" y="-3"/>
            <a:chExt cx="4102025" cy="5143934"/>
          </a:xfrm>
        </p:grpSpPr>
        <p:pic>
          <p:nvPicPr>
            <p:cNvPr id="350" name="Google Shape;350;p4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4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4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4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4" name="Google Shape;354;p40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8.xml"/><Relationship Id="rId3" Type="http://schemas.openxmlformats.org/officeDocument/2006/relationships/hyperlink" Target="https://www.sciencedirect.com/science/article/abs/pii/S1364815225002622" TargetMode="External"/><Relationship Id="rId2" Type="http://schemas.openxmlformats.org/officeDocument/2006/relationships/hyperlink" Target="https://www.researchgate.net/publication/395144535_Deep_learning_for_wildfire_risk_prediction_Integrating_remote_sensing_and_environmental_data" TargetMode="External"/><Relationship Id="rId1" Type="http://schemas.openxmlformats.org/officeDocument/2006/relationships/hyperlink" Target="https://pubmed.ncbi.nlm.nih.gov/40155427/" TargetMode="Externa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9.xml"/><Relationship Id="rId4" Type="http://schemas.openxmlformats.org/officeDocument/2006/relationships/hyperlink" Target="https://www.researchgate.net/publication/384333003_Wildfire_Risk_Prediction_A_Review" TargetMode="External"/><Relationship Id="rId3" Type="http://schemas.openxmlformats.org/officeDocument/2006/relationships/hyperlink" Target="https://www.researchgate.net/publication/372604602_A_Forest_Fire_Susceptibility_Modeling_Approach_Based_on_Integration_Machine_Learning_Algorithm" TargetMode="External"/><Relationship Id="rId2" Type="http://schemas.openxmlformats.org/officeDocument/2006/relationships/hyperlink" Target="https://www.sciencedirect.com/science/article/abs/pii/S0273117723002181" TargetMode="External"/><Relationship Id="rId1" Type="http://schemas.openxmlformats.org/officeDocument/2006/relationships/hyperlink" Target="https://www.sciencedirect.com/science/article/abs/pii/S037811272300291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.pn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4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-380" r="380"/>
          <a:stretch>
            <a:fillRect/>
          </a:stretch>
        </p:blipFill>
        <p:spPr>
          <a:xfrm flipH="1">
            <a:off x="5729925" y="-14250"/>
            <a:ext cx="3434125" cy="517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0" name="Google Shape;360;p41"/>
          <p:cNvGrpSpPr/>
          <p:nvPr/>
        </p:nvGrpSpPr>
        <p:grpSpPr>
          <a:xfrm flipH="1">
            <a:off x="1951214" y="-90550"/>
            <a:ext cx="5928976" cy="5195363"/>
            <a:chOff x="992699" y="1"/>
            <a:chExt cx="5928976" cy="5143924"/>
          </a:xfrm>
        </p:grpSpPr>
        <p:pic>
          <p:nvPicPr>
            <p:cNvPr id="361" name="Google Shape;361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" name="Google Shape;365;p41"/>
          <p:cNvSpPr txBox="1">
            <a:spLocks noGrp="1"/>
          </p:cNvSpPr>
          <p:nvPr>
            <p:ph type="ctrTitle"/>
          </p:nvPr>
        </p:nvSpPr>
        <p:spPr>
          <a:xfrm>
            <a:off x="193375" y="170150"/>
            <a:ext cx="5613900" cy="29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Machine Learning-Based Wildfire Risk Prediction Using Satellite and Weather Data</a:t>
            </a:r>
            <a:endParaRPr sz="4500"/>
          </a:p>
        </p:txBody>
      </p:sp>
      <p:sp>
        <p:nvSpPr>
          <p:cNvPr id="366" name="Google Shape;366;p41"/>
          <p:cNvSpPr txBox="1">
            <a:spLocks noGrp="1"/>
          </p:cNvSpPr>
          <p:nvPr>
            <p:ph type="subTitle" idx="1"/>
          </p:nvPr>
        </p:nvSpPr>
        <p:spPr>
          <a:xfrm>
            <a:off x="193375" y="3132525"/>
            <a:ext cx="3650700" cy="19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Team:</a:t>
            </a: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Ch. Aditya</a:t>
            </a:r>
            <a:r>
              <a:rPr lang="en-GB"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A.Aaryan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K. Gokul</a:t>
            </a:r>
            <a:endParaRPr sz="17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M. Sathwik</a:t>
            </a:r>
            <a:endParaRPr sz="17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Y. Gokul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Course Coordinator</a:t>
            </a:r>
            <a:r>
              <a:rPr lang="en-GB"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:  Dr. K. Swanthana </a:t>
            </a:r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GB" sz="11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/>
          <p:cNvSpPr/>
          <p:nvPr/>
        </p:nvSpPr>
        <p:spPr>
          <a:xfrm>
            <a:off x="480217" y="941425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2" name="Google Shape;372;p42"/>
          <p:cNvSpPr/>
          <p:nvPr/>
        </p:nvSpPr>
        <p:spPr>
          <a:xfrm>
            <a:off x="480217" y="193370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457117" y="2939163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457137" y="3944625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4160112" y="91605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4160112" y="193370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7" name="Google Shape;377;p42"/>
          <p:cNvSpPr txBox="1">
            <a:spLocks noGrp="1"/>
          </p:cNvSpPr>
          <p:nvPr>
            <p:ph type="title" idx="5"/>
          </p:nvPr>
        </p:nvSpPr>
        <p:spPr>
          <a:xfrm>
            <a:off x="503317" y="11218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378" name="Google Shape;378;p42"/>
          <p:cNvSpPr txBox="1">
            <a:spLocks noGrp="1"/>
          </p:cNvSpPr>
          <p:nvPr>
            <p:ph type="title" idx="6"/>
          </p:nvPr>
        </p:nvSpPr>
        <p:spPr>
          <a:xfrm>
            <a:off x="4183212" y="11218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05</a:t>
            </a:r>
            <a:endParaRPr lang="en-GB"/>
          </a:p>
        </p:txBody>
      </p:sp>
      <p:sp>
        <p:nvSpPr>
          <p:cNvPr id="379" name="Google Shape;379;p42"/>
          <p:cNvSpPr txBox="1">
            <a:spLocks noGrp="1"/>
          </p:cNvSpPr>
          <p:nvPr>
            <p:ph type="title" idx="7"/>
          </p:nvPr>
        </p:nvSpPr>
        <p:spPr>
          <a:xfrm>
            <a:off x="480237" y="4150425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380" name="Google Shape;380;p42"/>
          <p:cNvSpPr txBox="1">
            <a:spLocks noGrp="1"/>
          </p:cNvSpPr>
          <p:nvPr>
            <p:ph type="title" idx="8"/>
          </p:nvPr>
        </p:nvSpPr>
        <p:spPr>
          <a:xfrm>
            <a:off x="503317" y="21395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381" name="Google Shape;381;p42"/>
          <p:cNvSpPr txBox="1">
            <a:spLocks noGrp="1"/>
          </p:cNvSpPr>
          <p:nvPr>
            <p:ph type="title" idx="14"/>
          </p:nvPr>
        </p:nvSpPr>
        <p:spPr>
          <a:xfrm>
            <a:off x="4183212" y="21395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06</a:t>
            </a:r>
            <a:endParaRPr lang="en-GB"/>
          </a:p>
        </p:txBody>
      </p:sp>
      <p:sp>
        <p:nvSpPr>
          <p:cNvPr id="382" name="Google Shape;382;p42"/>
          <p:cNvSpPr txBox="1">
            <a:spLocks noGrp="1"/>
          </p:cNvSpPr>
          <p:nvPr>
            <p:ph type="title" idx="15"/>
          </p:nvPr>
        </p:nvSpPr>
        <p:spPr>
          <a:xfrm>
            <a:off x="480217" y="314496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383" name="Google Shape;383;p42"/>
          <p:cNvSpPr txBox="1">
            <a:spLocks noGrp="1"/>
          </p:cNvSpPr>
          <p:nvPr>
            <p:ph type="title"/>
          </p:nvPr>
        </p:nvSpPr>
        <p:spPr>
          <a:xfrm>
            <a:off x="480225" y="2671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16"/>
          </p:nvPr>
        </p:nvSpPr>
        <p:spPr>
          <a:xfrm>
            <a:off x="1404098" y="1121854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Problem Statement </a:t>
            </a:r>
            <a:endParaRPr sz="1800"/>
          </a:p>
        </p:txBody>
      </p:sp>
      <p:sp>
        <p:nvSpPr>
          <p:cNvPr id="385" name="Google Shape;385;p42"/>
          <p:cNvSpPr txBox="1">
            <a:spLocks noGrp="1"/>
          </p:cNvSpPr>
          <p:nvPr>
            <p:ph type="subTitle" idx="17"/>
          </p:nvPr>
        </p:nvSpPr>
        <p:spPr>
          <a:xfrm>
            <a:off x="1404108" y="4211561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Research Gap </a:t>
            </a:r>
            <a:endParaRPr sz="1800"/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18"/>
          </p:nvPr>
        </p:nvSpPr>
        <p:spPr>
          <a:xfrm>
            <a:off x="5019322" y="1121850"/>
            <a:ext cx="30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Workflow</a:t>
            </a:r>
            <a:endParaRPr sz="1800"/>
          </a:p>
        </p:txBody>
      </p:sp>
      <p:sp>
        <p:nvSpPr>
          <p:cNvPr id="387" name="Google Shape;387;p42"/>
          <p:cNvSpPr txBox="1">
            <a:spLocks noGrp="1"/>
          </p:cNvSpPr>
          <p:nvPr>
            <p:ph type="subTitle" idx="19"/>
          </p:nvPr>
        </p:nvSpPr>
        <p:spPr>
          <a:xfrm>
            <a:off x="1404098" y="2139504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Objectives </a:t>
            </a:r>
            <a:endParaRPr sz="1600"/>
          </a:p>
        </p:txBody>
      </p:sp>
      <p:sp>
        <p:nvSpPr>
          <p:cNvPr id="388" name="Google Shape;388;p42"/>
          <p:cNvSpPr txBox="1">
            <a:spLocks noGrp="1"/>
          </p:cNvSpPr>
          <p:nvPr>
            <p:ph type="subTitle" idx="20"/>
          </p:nvPr>
        </p:nvSpPr>
        <p:spPr>
          <a:xfrm>
            <a:off x="5088946" y="2139500"/>
            <a:ext cx="332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Innovation &amp; Novelty </a:t>
            </a:r>
            <a:endParaRPr sz="1800"/>
          </a:p>
        </p:txBody>
      </p:sp>
      <p:sp>
        <p:nvSpPr>
          <p:cNvPr id="389" name="Google Shape;389;p42"/>
          <p:cNvSpPr txBox="1">
            <a:spLocks noGrp="1"/>
          </p:cNvSpPr>
          <p:nvPr>
            <p:ph type="subTitle" idx="21"/>
          </p:nvPr>
        </p:nvSpPr>
        <p:spPr>
          <a:xfrm>
            <a:off x="1365398" y="3157154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Literature Survey </a:t>
            </a:r>
            <a:endParaRPr sz="1800"/>
          </a:p>
        </p:txBody>
      </p:sp>
      <p:sp>
        <p:nvSpPr>
          <p:cNvPr id="390" name="Google Shape;390;p42"/>
          <p:cNvSpPr/>
          <p:nvPr/>
        </p:nvSpPr>
        <p:spPr>
          <a:xfrm>
            <a:off x="4183192" y="2983325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91" name="Google Shape;391;p42"/>
          <p:cNvSpPr/>
          <p:nvPr/>
        </p:nvSpPr>
        <p:spPr>
          <a:xfrm>
            <a:off x="4160092" y="400575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92" name="Google Shape;392;p42"/>
          <p:cNvSpPr txBox="1">
            <a:spLocks noGrp="1"/>
          </p:cNvSpPr>
          <p:nvPr>
            <p:ph type="title" idx="15"/>
          </p:nvPr>
        </p:nvSpPr>
        <p:spPr>
          <a:xfrm>
            <a:off x="4183192" y="317551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07</a:t>
            </a:r>
            <a:endParaRPr lang="en-GB"/>
          </a:p>
        </p:txBody>
      </p:sp>
      <p:sp>
        <p:nvSpPr>
          <p:cNvPr id="393" name="Google Shape;393;p42"/>
          <p:cNvSpPr txBox="1">
            <a:spLocks noGrp="1"/>
          </p:cNvSpPr>
          <p:nvPr>
            <p:ph type="title" idx="15"/>
          </p:nvPr>
        </p:nvSpPr>
        <p:spPr>
          <a:xfrm>
            <a:off x="4183192" y="415041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08</a:t>
            </a:r>
            <a:endParaRPr lang="en-GB"/>
          </a:p>
        </p:txBody>
      </p:sp>
      <p:sp>
        <p:nvSpPr>
          <p:cNvPr id="394" name="Google Shape;394;p42"/>
          <p:cNvSpPr txBox="1">
            <a:spLocks noGrp="1"/>
          </p:cNvSpPr>
          <p:nvPr>
            <p:ph type="subTitle" idx="20"/>
          </p:nvPr>
        </p:nvSpPr>
        <p:spPr>
          <a:xfrm>
            <a:off x="5019321" y="3189125"/>
            <a:ext cx="332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Feasibility Analysis </a:t>
            </a:r>
            <a:endParaRPr sz="1800"/>
          </a:p>
        </p:txBody>
      </p:sp>
      <p:sp>
        <p:nvSpPr>
          <p:cNvPr id="395" name="Google Shape;395;p42"/>
          <p:cNvSpPr txBox="1">
            <a:spLocks noGrp="1"/>
          </p:cNvSpPr>
          <p:nvPr>
            <p:ph type="subTitle" idx="20"/>
          </p:nvPr>
        </p:nvSpPr>
        <p:spPr>
          <a:xfrm>
            <a:off x="5088946" y="4211550"/>
            <a:ext cx="332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>
                <a:solidFill>
                  <a:srgbClr val="000000"/>
                </a:solidFill>
              </a:rPr>
              <a:t>Plan &amp; Outcomes 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4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1"/>
          <a:srcRect r="4187"/>
          <a:stretch>
            <a:fillRect/>
          </a:stretch>
        </p:blipFill>
        <p:spPr>
          <a:xfrm flipH="1">
            <a:off x="7069601" y="-14250"/>
            <a:ext cx="2091949" cy="517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1" name="Google Shape;401;p43"/>
          <p:cNvGrpSpPr/>
          <p:nvPr/>
        </p:nvGrpSpPr>
        <p:grpSpPr>
          <a:xfrm flipH="1">
            <a:off x="2747050" y="-25937"/>
            <a:ext cx="5928976" cy="5195363"/>
            <a:chOff x="992699" y="1"/>
            <a:chExt cx="5928976" cy="5143924"/>
          </a:xfrm>
        </p:grpSpPr>
        <p:pic>
          <p:nvPicPr>
            <p:cNvPr id="402" name="Google Shape;402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6" name="Google Shape;406;p43"/>
          <p:cNvSpPr txBox="1">
            <a:spLocks noGrp="1"/>
          </p:cNvSpPr>
          <p:nvPr>
            <p:ph type="title"/>
          </p:nvPr>
        </p:nvSpPr>
        <p:spPr>
          <a:xfrm>
            <a:off x="966800" y="356250"/>
            <a:ext cx="5683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3600"/>
              <a:t>Problem Statement</a:t>
            </a:r>
            <a:endParaRPr sz="3600"/>
          </a:p>
        </p:txBody>
      </p:sp>
      <p:cxnSp>
        <p:nvCxnSpPr>
          <p:cNvPr id="407" name="Google Shape;407;p43"/>
          <p:cNvCxnSpPr/>
          <p:nvPr/>
        </p:nvCxnSpPr>
        <p:spPr>
          <a:xfrm rot="10800000">
            <a:off x="32300" y="26816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8" name="Google Shape;408;p43"/>
          <p:cNvSpPr txBox="1"/>
          <p:nvPr/>
        </p:nvSpPr>
        <p:spPr>
          <a:xfrm>
            <a:off x="172100" y="1412550"/>
            <a:ext cx="6689400" cy="43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Wildfires cause severe damage to:</a:t>
            </a:r>
            <a:endParaRPr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Forests and biodiversity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Human settlements and infrastructure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Agricultural land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Wildlife and ecosystems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Air quality and the environment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/>
              <a:t>Existing Challenge</a:t>
            </a: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Many wildfire monitoring systems primarily focus on </a:t>
            </a:r>
            <a:r>
              <a:rPr lang="en-GB" sz="1100" b="1"/>
              <a:t>detecting active fires after ignition</a:t>
            </a:r>
            <a:r>
              <a:rPr lang="en-GB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Weather-only approaches may not capture </a:t>
            </a:r>
            <a:r>
              <a:rPr lang="en-GB" sz="1100" b="1"/>
              <a:t>vegetation and land conditions</a:t>
            </a:r>
            <a:r>
              <a:rPr lang="en-GB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Satellite observations provide valuable environmental information but require proper processing and integration.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A simple </a:t>
            </a:r>
            <a:r>
              <a:rPr lang="en-GB" sz="1100" b="1"/>
              <a:t>Fire / No-Fire</a:t>
            </a:r>
            <a:r>
              <a:rPr lang="en-GB" sz="1100"/>
              <a:t> prediction does not provide enough information for prioritizing high-risk areas.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4"/>
          <p:cNvSpPr txBox="1">
            <a:spLocks noGrp="1"/>
          </p:cNvSpPr>
          <p:nvPr>
            <p:ph type="title"/>
          </p:nvPr>
        </p:nvSpPr>
        <p:spPr>
          <a:xfrm>
            <a:off x="624300" y="435250"/>
            <a:ext cx="7895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to Solve</a:t>
            </a:r>
            <a:endParaRPr sz="1400" u="sng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Develop a machine-learning system that predicts wildfire risk before potential fire occurrence by integrating satellite-derived environmental features with weather conditions.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 Approach</a:t>
            </a:r>
            <a:endParaRPr sz="1200" u="sng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Fire Occurs  → Detection  → Response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Proposed Approach</a:t>
            </a:r>
            <a:endParaRPr sz="1200" u="sng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Satellite  + Weather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↓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ML Prediction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↓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Risk Before Fire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↓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Early Monitoring &amp; Action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199" r="199"/>
          <a:stretch>
            <a:fillRect/>
          </a:stretch>
        </p:blipFill>
        <p:spPr>
          <a:xfrm flipH="1">
            <a:off x="-97850" y="-14250"/>
            <a:ext cx="2331650" cy="517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45"/>
          <p:cNvGrpSpPr/>
          <p:nvPr/>
        </p:nvGrpSpPr>
        <p:grpSpPr>
          <a:xfrm>
            <a:off x="1713314" y="-25938"/>
            <a:ext cx="6501351" cy="5195363"/>
            <a:chOff x="992699" y="1"/>
            <a:chExt cx="6501351" cy="5143924"/>
          </a:xfrm>
        </p:grpSpPr>
        <p:pic>
          <p:nvPicPr>
            <p:cNvPr id="420" name="Google Shape;420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957600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4" name="Google Shape;424;p45"/>
          <p:cNvSpPr txBox="1">
            <a:spLocks noGrp="1"/>
          </p:cNvSpPr>
          <p:nvPr>
            <p:ph type="title"/>
          </p:nvPr>
        </p:nvSpPr>
        <p:spPr>
          <a:xfrm>
            <a:off x="2285688" y="94825"/>
            <a:ext cx="4572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500"/>
              <a:t>OBJECTIVES </a:t>
            </a:r>
            <a:endParaRPr sz="2500"/>
          </a:p>
        </p:txBody>
      </p:sp>
      <p:sp>
        <p:nvSpPr>
          <p:cNvPr id="425" name="Google Shape;425;p45"/>
          <p:cNvSpPr txBox="1"/>
          <p:nvPr/>
        </p:nvSpPr>
        <p:spPr>
          <a:xfrm>
            <a:off x="2494750" y="643525"/>
            <a:ext cx="6210900" cy="46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b="1" u="sng"/>
              <a:t>Primary Objective</a:t>
            </a:r>
            <a:endParaRPr b="1" u="sng"/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To develop an explainable machine-learning system for predicting location-specific wildfire risk using satellite and weather data.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b="1"/>
              <a:t>Specific Objectives</a:t>
            </a:r>
            <a:endParaRPr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Data Collection:</a:t>
            </a:r>
            <a:r>
              <a:rPr lang="en-GB" sz="1200"/>
              <a:t> Ingest wildfire, satellite, and meteorological datasets.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Preprocessing &amp; Fusion:</a:t>
            </a:r>
            <a:r>
              <a:rPr lang="en-GB" sz="1200"/>
              <a:t> Clean and integrate heterogeneous spatial and temporal data.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Feature Engineering:</a:t>
            </a:r>
            <a:r>
              <a:rPr lang="en-GB" sz="1200"/>
              <a:t> Extract key features (</a:t>
            </a:r>
            <a:r>
              <a:rPr lang="en-GB" sz="1200" i="1"/>
              <a:t>NDVI, Land-Surface Temp, Humidity, Wind Speed, Vegetation Cover</a:t>
            </a:r>
            <a:r>
              <a:rPr lang="en-GB" sz="1200"/>
              <a:t>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Model Development:</a:t>
            </a:r>
            <a:r>
              <a:rPr lang="en-GB" sz="1200"/>
              <a:t> Train and evaluate scalable machine-learning models (e.g., Random Forest, XGBoost).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Risk Quantification:</a:t>
            </a:r>
            <a:r>
              <a:rPr lang="en-GB" sz="1200"/>
              <a:t> Generate non-binary wildfire probability scores classified into </a:t>
            </a:r>
            <a:r>
              <a:rPr lang="en-GB" sz="1200" b="1"/>
              <a:t>Low</a:t>
            </a:r>
            <a:r>
              <a:rPr lang="en-GB" sz="1200"/>
              <a:t>, </a:t>
            </a:r>
            <a:r>
              <a:rPr lang="en-GB" sz="1200" b="1"/>
              <a:t>Medium</a:t>
            </a:r>
            <a:r>
              <a:rPr lang="en-GB" sz="1200"/>
              <a:t>, and </a:t>
            </a:r>
            <a:r>
              <a:rPr lang="en-GB" sz="1200" b="1"/>
              <a:t>High</a:t>
            </a:r>
            <a:r>
              <a:rPr lang="en-GB" sz="1200"/>
              <a:t> risk.	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Explainability &amp; Mapping:</a:t>
            </a:r>
            <a:r>
              <a:rPr lang="en-GB" sz="1200"/>
              <a:t> Use </a:t>
            </a:r>
            <a:r>
              <a:rPr lang="en-GB" sz="1200" b="1"/>
              <a:t>SHAP</a:t>
            </a:r>
            <a:r>
              <a:rPr lang="en-GB" sz="1200"/>
              <a:t> for feature explainability and deploy an interactive </a:t>
            </a:r>
            <a:r>
              <a:rPr lang="en-GB" sz="1200" b="1"/>
              <a:t>risk dashboard</a:t>
            </a:r>
            <a:r>
              <a:rPr lang="en-GB" sz="1200"/>
              <a:t>.</a:t>
            </a:r>
            <a:endParaRPr sz="12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" name="Google Shape;430;p46"/>
          <p:cNvGraphicFramePr/>
          <p:nvPr/>
        </p:nvGraphicFramePr>
        <p:xfrm>
          <a:off x="425875" y="522100"/>
          <a:ext cx="8112325" cy="4523750"/>
        </p:xfrm>
        <a:graphic>
          <a:graphicData uri="http://schemas.openxmlformats.org/drawingml/2006/table">
            <a:tbl>
              <a:tblPr>
                <a:noFill/>
                <a:tableStyleId>{B7766D48-B327-4EA1-AB54-F5FB673F19EA}</a:tableStyleId>
              </a:tblPr>
              <a:tblGrid>
                <a:gridCol w="2829900"/>
                <a:gridCol w="2578325"/>
                <a:gridCol w="2704100"/>
              </a:tblGrid>
              <a:tr h="774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Paper &amp; Year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Key Approach Used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Identified Limitation / Gap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1192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1"/>
                        </a:rPr>
                        <a:t>Exploration of Geo-Spatial Data and Machine Learning Algorithms for Robust Wildfire Occurrence Prediction (2025)</a:t>
                      </a:r>
                      <a:endParaRPr lang="en-GB" u="sng">
                        <a:solidFill>
                          <a:schemeClr val="hlink"/>
                        </a:solidFill>
                        <a:hlinkClick r:id="rId1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Explores predicting wildfire occurrences using meteorological and geo-spatial parameters alongside ML algorithms.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Highlights the challenge of imbalanced spatio-temporal data and notes the absence of a unified approach across different regions.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1101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2"/>
                        </a:rPr>
                        <a:t>Deep Learning for Wildfire Risk Prediction: Integrating Remote Sensing and Environmental Data (2024) </a:t>
                      </a:r>
                      <a:endParaRPr lang="en-GB" u="sng">
                        <a:solidFill>
                          <a:schemeClr val="hlink"/>
                        </a:solidFill>
                        <a:hlinkClick r:id="rId2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Categorizes deep learning models for spatiotemporal prediction and discusses interpretability techniques like SHAP.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Emphasizes that many DL models act as "black boxes" and often struggle with evaluating feature collinearity.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745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3"/>
                        </a:rPr>
                        <a:t>AutoML-Fire: Automated Machine-Learning Approach to Predict Forest Fires (2025) </a:t>
                      </a:r>
                      <a:endParaRPr lang="en-GB" u="sng">
                        <a:solidFill>
                          <a:schemeClr val="hlink"/>
                        </a:solidFill>
                        <a:hlinkClick r:id="rId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Proposes an AutoML framework utilizing Bayesian optimization to handle hyperparameter tuning automatically.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Notes that traditional ML methods require manual intervention for model selection and often struggle with data imbalance.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431" name="Google Shape;431;p46"/>
          <p:cNvSpPr txBox="1"/>
          <p:nvPr/>
        </p:nvSpPr>
        <p:spPr>
          <a:xfrm>
            <a:off x="3011525" y="-85025"/>
            <a:ext cx="3323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Literature Survey </a:t>
            </a:r>
            <a:endParaRPr sz="25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6" name="Google Shape;436;p47"/>
          <p:cNvGraphicFramePr/>
          <p:nvPr/>
        </p:nvGraphicFramePr>
        <p:xfrm>
          <a:off x="127063" y="-75562"/>
          <a:ext cx="8634775" cy="5294705"/>
        </p:xfrm>
        <a:graphic>
          <a:graphicData uri="http://schemas.openxmlformats.org/drawingml/2006/table">
            <a:tbl>
              <a:tblPr>
                <a:noFill/>
                <a:tableStyleId>{B7766D48-B327-4EA1-AB54-F5FB673F19EA}</a:tableStyleId>
              </a:tblPr>
              <a:tblGrid>
                <a:gridCol w="3040000"/>
                <a:gridCol w="2831425"/>
                <a:gridCol w="2763350"/>
              </a:tblGrid>
              <a:tr h="72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Paper &amp; Year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Key Approach Used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Identified Limitation / Gap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1"/>
                        </a:rPr>
                        <a:t>Environmental Drivers and Spatial Prediction of Forest Fires in the Western Ghats (2023) </a:t>
                      </a:r>
                      <a:endParaRPr lang="en-GB" u="sng">
                        <a:solidFill>
                          <a:schemeClr val="hlink"/>
                        </a:solidFill>
                        <a:hlinkClick r:id="rId1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Uses spatial variables and vegetation indices for ensemble machine learning prediction.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Focuses heavily on regional vegetation conditions, making it less adaptable for real-time, cross-regional monitoring.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2"/>
                        </a:rPr>
                        <a:t>Forest Fire Susceptibility Mapping with Sensitivity and Uncertainty Analysis (2023) </a:t>
                      </a:r>
                      <a:endParaRPr lang="en-GB" u="sng">
                        <a:solidFill>
                          <a:schemeClr val="hlink"/>
                        </a:solidFill>
                        <a:hlinkClick r:id="rId2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Maps susceptibility using geospatial techniques, ML models (RF, XGBoost), and deep neural network-based sensitivity analysis.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Primarily evaluates static variables (like distance to road and elevation) and highlights the need for dynamic weather integration.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3"/>
                        </a:rPr>
                        <a:t>Forest Fire Susceptibility Modeling in the Eastern Mediterranean: A Machine Learning Assessment (2023)</a:t>
                      </a:r>
                      <a:r>
                        <a:rPr lang="en-GB"/>
                        <a:t>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Creates high-resolution susceptibility maps comparing algorithms like Random Forest and SVM.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Relies heavily on historical inventory maps, requiring manual processing of spatial data rather than real-time automated ingestion.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4"/>
                        </a:rPr>
                        <a:t>Wildfire Risk Prediction: A Review (2024) </a:t>
                      </a:r>
                      <a:endParaRPr lang="en-GB" u="sng">
                        <a:solidFill>
                          <a:schemeClr val="hlink"/>
                        </a:solidFill>
                        <a:hlinkClick r:id="rId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Comprehensively categorizes deep learning approaches and public remote sensing datasets.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Shows a lack of models that successfully couple numerical weather-prediction frameworks with deep learning capabilities.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199" r="199"/>
          <a:stretch>
            <a:fillRect/>
          </a:stretch>
        </p:blipFill>
        <p:spPr>
          <a:xfrm flipH="1">
            <a:off x="6906001" y="-14250"/>
            <a:ext cx="2255549" cy="517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48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3" name="Google Shape;443;p48"/>
          <p:cNvSpPr txBox="1"/>
          <p:nvPr/>
        </p:nvSpPr>
        <p:spPr>
          <a:xfrm>
            <a:off x="2063600" y="267125"/>
            <a:ext cx="3422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Research Gap</a:t>
            </a:r>
            <a:endParaRPr sz="25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0" y="836525"/>
            <a:ext cx="3066900" cy="430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u="sng"/>
              <a:t>Current Limitations</a:t>
            </a:r>
            <a:endParaRPr sz="1600"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Reactive, Not Proactive:</a:t>
            </a:r>
            <a:r>
              <a:rPr lang="en-GB" sz="1200"/>
              <a:t> Most systems focus on active-fire detection (after ignition) rather than pre-fire susceptibility.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Binary Outputs:</a:t>
            </a:r>
            <a:r>
              <a:rPr lang="en-GB" sz="1200"/>
              <a:t> Existing models often classify areas strictly as "Fire" or "No-Fire", failing to provide a graded scale for resource allocation.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Siloed Data:</a:t>
            </a:r>
            <a:r>
              <a:rPr lang="en-GB" sz="1200"/>
              <a:t> Studies usually rely heavily on either static satellite imagery or weather data, rarely fusing them dynamically.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Black-Box AI:</a:t>
            </a:r>
            <a:r>
              <a:rPr lang="en-GB" sz="1200"/>
              <a:t> Deep learning models provide predictions but lack the explainability needed for emergency responders to trust the data.</a:t>
            </a:r>
            <a:endParaRPr sz="12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5" name="Google Shape;445;p48"/>
          <p:cNvSpPr/>
          <p:nvPr/>
        </p:nvSpPr>
        <p:spPr>
          <a:xfrm>
            <a:off x="3312325" y="836525"/>
            <a:ext cx="3189900" cy="4321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u="sng"/>
              <a:t>The Identified Gap</a:t>
            </a:r>
            <a:endParaRPr sz="1600"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is a critical need for a proactive, multi-source framework that fuses real-time weather conditions with satellite-derived environmental data to generate granular, location-specific, and explainable risk scores (Low/Medium/High) before a fire occurs.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4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567800" y="-80375"/>
            <a:ext cx="3576200" cy="52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55875" y="-80375"/>
            <a:ext cx="8331225" cy="534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9"/>
          <p:cNvSpPr txBox="1"/>
          <p:nvPr/>
        </p:nvSpPr>
        <p:spPr>
          <a:xfrm>
            <a:off x="3406200" y="-80375"/>
            <a:ext cx="149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Workflow</a:t>
            </a:r>
            <a:endParaRPr sz="20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53" name="Google Shape;453;p4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55875" y="-80325"/>
            <a:ext cx="9299876" cy="53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0"/>
          <p:cNvSpPr/>
          <p:nvPr/>
        </p:nvSpPr>
        <p:spPr>
          <a:xfrm>
            <a:off x="165700" y="1114750"/>
            <a:ext cx="2658900" cy="3901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u="sng"/>
              <a:t>Multi-Source Data Fusion</a:t>
            </a:r>
            <a:endParaRPr sz="1300" b="1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The Innovation:</a:t>
            </a:r>
            <a:r>
              <a:rPr lang="en-GB" sz="1100"/>
              <a:t> Moving beyond single-source monitoring.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Details:</a:t>
            </a:r>
            <a:r>
              <a:rPr lang="en-GB" sz="1100"/>
              <a:t> Dynamically fusing static satellite imagery (NASA/Sentinel) with real-time weather metrics (temperature, wind, humidity) into a single predictive engine.</a:t>
            </a:r>
            <a:endParaRPr sz="11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59" name="Google Shape;459;p50"/>
          <p:cNvSpPr/>
          <p:nvPr/>
        </p:nvSpPr>
        <p:spPr>
          <a:xfrm>
            <a:off x="6349050" y="1114750"/>
            <a:ext cx="2658900" cy="3901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 u="sng"/>
              <a:t>Granular Risk Categorization</a:t>
            </a:r>
            <a:endParaRPr sz="1200" b="1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The Innovation:</a:t>
            </a:r>
            <a:r>
              <a:rPr lang="en-GB" sz="1100"/>
              <a:t> Actionable Intelligence.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Details:</a:t>
            </a:r>
            <a:r>
              <a:rPr lang="en-GB" sz="1100"/>
              <a:t> Shifting away from basic binary "Fire/No-Fire" outputs. Generating a continuous probability score categorized into </a:t>
            </a:r>
            <a:r>
              <a:rPr lang="en-GB" sz="1100" b="1"/>
              <a:t>Low, Medium, and High Risk</a:t>
            </a:r>
            <a:r>
              <a:rPr lang="en-GB" sz="1100"/>
              <a:t> zones for prioritized resource allocation.</a:t>
            </a:r>
            <a:endParaRPr sz="11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60" name="Google Shape;460;p50"/>
          <p:cNvSpPr/>
          <p:nvPr/>
        </p:nvSpPr>
        <p:spPr>
          <a:xfrm>
            <a:off x="3257375" y="1114750"/>
            <a:ext cx="2658900" cy="3901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u="sng"/>
              <a:t>Explainable AI (XAI)</a:t>
            </a:r>
            <a:endParaRPr sz="1300" b="1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The Innovation:</a:t>
            </a:r>
            <a:r>
              <a:rPr lang="en-GB" sz="1100"/>
              <a:t> Solving the "Black Box" problem.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Details:</a:t>
            </a:r>
            <a:r>
              <a:rPr lang="en-GB" sz="1100"/>
              <a:t> Utilizing </a:t>
            </a:r>
            <a:r>
              <a:rPr lang="en-GB" sz="1100" b="1"/>
              <a:t>SHAP</a:t>
            </a:r>
            <a:r>
              <a:rPr lang="en-GB" sz="1100"/>
              <a:t> values to provide total transparency. When a region is flagged as high risk, the system explains </a:t>
            </a:r>
            <a:r>
              <a:rPr lang="en-GB" sz="1100" i="1"/>
              <a:t>why</a:t>
            </a:r>
            <a:r>
              <a:rPr lang="en-GB" sz="1100"/>
              <a:t> (e.g., "High risk driven by 70% wind speed and dry vegetation").</a:t>
            </a:r>
            <a:endParaRPr sz="11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61" name="Google Shape;461;p50"/>
          <p:cNvSpPr txBox="1"/>
          <p:nvPr/>
        </p:nvSpPr>
        <p:spPr>
          <a:xfrm>
            <a:off x="910700" y="332750"/>
            <a:ext cx="690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Innovation &amp; Novelty </a:t>
            </a:r>
            <a:endParaRPr sz="22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500"/>
              <a:t>Feasibility Analysis </a:t>
            </a:r>
            <a:endParaRPr lang="en-GB" sz="2500"/>
          </a:p>
        </p:txBody>
      </p:sp>
      <p:sp>
        <p:nvSpPr>
          <p:cNvPr id="467" name="Google Shape;467;p51"/>
          <p:cNvSpPr txBox="1">
            <a:spLocks noGrp="1"/>
          </p:cNvSpPr>
          <p:nvPr>
            <p:ph type="subTitle" idx="1"/>
          </p:nvPr>
        </p:nvSpPr>
        <p:spPr>
          <a:xfrm>
            <a:off x="2076823" y="144180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Built using proven, industry-standard machine learning libraries (Scikit-Learn, XGBoost) and open-source geospatial tools (GeoPandas).</a:t>
            </a:r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68" name="Google Shape;468;p51"/>
          <p:cNvSpPr txBox="1">
            <a:spLocks noGrp="1"/>
          </p:cNvSpPr>
          <p:nvPr>
            <p:ph type="subTitle" idx="2"/>
          </p:nvPr>
        </p:nvSpPr>
        <p:spPr>
          <a:xfrm>
            <a:off x="2076831" y="260425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Relies on stable, free, and publicly available data feeds (NASA FIRMS and Open-Meteo APIs), ensuring continuous and reliable system operation.</a:t>
            </a:r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69" name="Google Shape;469;p51"/>
          <p:cNvSpPr txBox="1">
            <a:spLocks noGrp="1"/>
          </p:cNvSpPr>
          <p:nvPr>
            <p:ph type="subTitle" idx="3"/>
          </p:nvPr>
        </p:nvSpPr>
        <p:spPr>
          <a:xfrm>
            <a:off x="2076831" y="3772818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architecture is lightweight. Once the model is trained, the inference and dashboard (Streamlit) can run efficiently on standard cloud instances with minimal computational costs.</a:t>
            </a:r>
            <a:endParaRPr sz="1300"/>
          </a:p>
        </p:txBody>
      </p:sp>
      <p:sp>
        <p:nvSpPr>
          <p:cNvPr id="470" name="Google Shape;470;p51"/>
          <p:cNvSpPr txBox="1">
            <a:spLocks noGrp="1"/>
          </p:cNvSpPr>
          <p:nvPr>
            <p:ph type="subTitle" idx="4"/>
          </p:nvPr>
        </p:nvSpPr>
        <p:spPr>
          <a:xfrm>
            <a:off x="2076823" y="1177425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Technical Feasibility</a:t>
            </a:r>
            <a:r>
              <a:rPr lang="en-GB" sz="16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2100"/>
          </a:p>
        </p:txBody>
      </p:sp>
      <p:sp>
        <p:nvSpPr>
          <p:cNvPr id="471" name="Google Shape;471;p51"/>
          <p:cNvSpPr txBox="1">
            <a:spLocks noGrp="1"/>
          </p:cNvSpPr>
          <p:nvPr>
            <p:ph type="subTitle" idx="5"/>
          </p:nvPr>
        </p:nvSpPr>
        <p:spPr>
          <a:xfrm>
            <a:off x="2076823" y="2340901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Operational Feasibility</a:t>
            </a:r>
            <a:endParaRPr sz="2100"/>
          </a:p>
        </p:txBody>
      </p:sp>
      <p:sp>
        <p:nvSpPr>
          <p:cNvPr id="472" name="Google Shape;472;p51"/>
          <p:cNvSpPr txBox="1">
            <a:spLocks noGrp="1"/>
          </p:cNvSpPr>
          <p:nvPr>
            <p:ph type="subTitle" idx="6"/>
          </p:nvPr>
        </p:nvSpPr>
        <p:spPr>
          <a:xfrm>
            <a:off x="2076823" y="3503352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Economic Feasibility</a:t>
            </a:r>
            <a:endParaRPr sz="2100"/>
          </a:p>
        </p:txBody>
      </p:sp>
      <p:sp>
        <p:nvSpPr>
          <p:cNvPr id="473" name="Google Shape;473;p51"/>
          <p:cNvSpPr/>
          <p:nvPr/>
        </p:nvSpPr>
        <p:spPr>
          <a:xfrm>
            <a:off x="1304469" y="1177425"/>
            <a:ext cx="731400" cy="731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474" name="Google Shape;474;p51"/>
          <p:cNvSpPr/>
          <p:nvPr/>
        </p:nvSpPr>
        <p:spPr>
          <a:xfrm>
            <a:off x="1304469" y="3503352"/>
            <a:ext cx="731400" cy="731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475" name="Google Shape;475;p51"/>
          <p:cNvSpPr/>
          <p:nvPr/>
        </p:nvSpPr>
        <p:spPr>
          <a:xfrm>
            <a:off x="1304469" y="2340901"/>
            <a:ext cx="731400" cy="731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>
            <a:spLocks noGrp="1"/>
          </p:cNvSpPr>
          <p:nvPr>
            <p:ph type="title"/>
          </p:nvPr>
        </p:nvSpPr>
        <p:spPr>
          <a:xfrm>
            <a:off x="460975" y="300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500"/>
              <a:t>Plan &amp; Expected Outcomes </a:t>
            </a:r>
            <a:endParaRPr sz="2300"/>
          </a:p>
        </p:txBody>
      </p:sp>
      <p:sp>
        <p:nvSpPr>
          <p:cNvPr id="481" name="Google Shape;481;p52"/>
          <p:cNvSpPr txBox="1"/>
          <p:nvPr/>
        </p:nvSpPr>
        <p:spPr>
          <a:xfrm>
            <a:off x="460975" y="1123550"/>
            <a:ext cx="7643400" cy="3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/>
              <a:t>Project Plan (Timeline):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1:</a:t>
            </a:r>
            <a:r>
              <a:rPr lang="en-GB" sz="1200"/>
              <a:t> Data collection &amp; preprocessing (cleaning satellite and weather feeds).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2:</a:t>
            </a:r>
            <a:r>
              <a:rPr lang="en-GB" sz="1200"/>
              <a:t> Feature engineering &amp; ML model training (XGBoost/Random Forest).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3:</a:t>
            </a:r>
            <a:r>
              <a:rPr lang="en-GB" sz="1200"/>
              <a:t> Integration of SHAP (Explainable AI) and dashboard UI development.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4:</a:t>
            </a:r>
            <a:r>
              <a:rPr lang="en-GB" sz="1200"/>
              <a:t> Final system testing, evaluation, and deployment.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/>
              <a:t>Expected Outcomes: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Predictive ML Model:</a:t>
            </a:r>
            <a:r>
              <a:rPr lang="en-GB" sz="1200"/>
              <a:t> A benchmarked algorithm capable of forecasting fire susceptibility </a:t>
            </a:r>
            <a:r>
              <a:rPr lang="en-GB" sz="1200" i="1"/>
              <a:t>before</a:t>
            </a:r>
            <a:r>
              <a:rPr lang="en-GB" sz="1200"/>
              <a:t> ignition.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Interactive Dashboard:</a:t>
            </a:r>
            <a:r>
              <a:rPr lang="en-GB" sz="1200"/>
              <a:t> A live geospatial map (built with Streamlit) highlighting Low, Medium, and High-risk zones.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Decision Support:</a:t>
            </a:r>
            <a:r>
              <a:rPr lang="en-GB" sz="1200"/>
              <a:t> A proactive tool that empowers emergency responders to allocate resources efficiently.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3"/>
          <p:cNvSpPr txBox="1">
            <a:spLocks noGrp="1"/>
          </p:cNvSpPr>
          <p:nvPr>
            <p:ph type="title"/>
          </p:nvPr>
        </p:nvSpPr>
        <p:spPr>
          <a:xfrm>
            <a:off x="175725" y="-286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00000"/>
                </a:solidFill>
              </a:rPr>
              <a:t>Methodology</a:t>
            </a:r>
            <a:endParaRPr sz="2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87" name="Google Shape;487;p5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408225"/>
            <a:ext cx="9144000" cy="47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1"/>
          </p:nvPr>
        </p:nvSpPr>
        <p:spPr>
          <a:xfrm>
            <a:off x="828827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4" name="Google Shape;494;p54"/>
          <p:cNvSpPr txBox="1">
            <a:spLocks noGrp="1"/>
          </p:cNvSpPr>
          <p:nvPr>
            <p:ph type="subTitle" idx="2"/>
          </p:nvPr>
        </p:nvSpPr>
        <p:spPr>
          <a:xfrm>
            <a:off x="3451796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5" name="Google Shape;495;p54"/>
          <p:cNvSpPr txBox="1">
            <a:spLocks noGrp="1"/>
          </p:cNvSpPr>
          <p:nvPr>
            <p:ph type="subTitle" idx="3"/>
          </p:nvPr>
        </p:nvSpPr>
        <p:spPr>
          <a:xfrm>
            <a:off x="6074773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6" name="Google Shape;496;p54"/>
          <p:cNvSpPr txBox="1">
            <a:spLocks noGrp="1"/>
          </p:cNvSpPr>
          <p:nvPr>
            <p:ph type="subTitle" idx="4"/>
          </p:nvPr>
        </p:nvSpPr>
        <p:spPr>
          <a:xfrm>
            <a:off x="828827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7" name="Google Shape;497;p54"/>
          <p:cNvSpPr txBox="1">
            <a:spLocks noGrp="1"/>
          </p:cNvSpPr>
          <p:nvPr>
            <p:ph type="subTitle" idx="5"/>
          </p:nvPr>
        </p:nvSpPr>
        <p:spPr>
          <a:xfrm>
            <a:off x="3451796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8" name="Google Shape;498;p54"/>
          <p:cNvSpPr txBox="1">
            <a:spLocks noGrp="1"/>
          </p:cNvSpPr>
          <p:nvPr>
            <p:ph type="subTitle" idx="6"/>
          </p:nvPr>
        </p:nvSpPr>
        <p:spPr>
          <a:xfrm>
            <a:off x="6074773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99" name="Google Shape;499;p5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4025" y="0"/>
            <a:ext cx="9143999" cy="521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5" name="Google Shape;505;p55"/>
          <p:cNvSpPr txBox="1">
            <a:spLocks noGrp="1"/>
          </p:cNvSpPr>
          <p:nvPr>
            <p:ph type="subTitle" idx="1"/>
          </p:nvPr>
        </p:nvSpPr>
        <p:spPr>
          <a:xfrm>
            <a:off x="828827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6" name="Google Shape;506;p55"/>
          <p:cNvSpPr txBox="1">
            <a:spLocks noGrp="1"/>
          </p:cNvSpPr>
          <p:nvPr>
            <p:ph type="subTitle" idx="2"/>
          </p:nvPr>
        </p:nvSpPr>
        <p:spPr>
          <a:xfrm>
            <a:off x="3451796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7" name="Google Shape;507;p55"/>
          <p:cNvSpPr txBox="1">
            <a:spLocks noGrp="1"/>
          </p:cNvSpPr>
          <p:nvPr>
            <p:ph type="subTitle" idx="3"/>
          </p:nvPr>
        </p:nvSpPr>
        <p:spPr>
          <a:xfrm>
            <a:off x="6074773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8" name="Google Shape;508;p55"/>
          <p:cNvSpPr txBox="1">
            <a:spLocks noGrp="1"/>
          </p:cNvSpPr>
          <p:nvPr>
            <p:ph type="subTitle" idx="4"/>
          </p:nvPr>
        </p:nvSpPr>
        <p:spPr>
          <a:xfrm>
            <a:off x="828827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9" name="Google Shape;509;p55"/>
          <p:cNvSpPr txBox="1">
            <a:spLocks noGrp="1"/>
          </p:cNvSpPr>
          <p:nvPr>
            <p:ph type="subTitle" idx="5"/>
          </p:nvPr>
        </p:nvSpPr>
        <p:spPr>
          <a:xfrm>
            <a:off x="3451796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0" name="Google Shape;510;p55"/>
          <p:cNvSpPr txBox="1">
            <a:spLocks noGrp="1"/>
          </p:cNvSpPr>
          <p:nvPr>
            <p:ph type="subTitle" idx="6"/>
          </p:nvPr>
        </p:nvSpPr>
        <p:spPr>
          <a:xfrm>
            <a:off x="6074773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11" name="Google Shape;511;p5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-76537"/>
            <a:ext cx="9143999" cy="524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"/>
          <p:cNvSpPr txBox="1">
            <a:spLocks noGrp="1"/>
          </p:cNvSpPr>
          <p:nvPr>
            <p:ph type="title"/>
          </p:nvPr>
        </p:nvSpPr>
        <p:spPr>
          <a:xfrm>
            <a:off x="481900" y="-192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Implementation </a:t>
            </a:r>
            <a:endParaRPr sz="2500"/>
          </a:p>
        </p:txBody>
      </p:sp>
      <p:sp>
        <p:nvSpPr>
          <p:cNvPr id="517" name="Google Shape;517;p56"/>
          <p:cNvSpPr txBox="1"/>
          <p:nvPr/>
        </p:nvSpPr>
        <p:spPr>
          <a:xfrm>
            <a:off x="481900" y="697325"/>
            <a:ext cx="7500900" cy="4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Data Collection</a:t>
            </a:r>
            <a:br>
              <a:rPr lang="en-GB" sz="1100" b="1"/>
            </a:br>
            <a:r>
              <a:rPr lang="en-GB" sz="1100"/>
              <a:t> Real-world wildfire, satellite and weather data are collected through NASA FIRMS, Open-Meteo and satellite sources.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Data Processing</a:t>
            </a:r>
            <a:br>
              <a:rPr lang="en-GB" sz="1100" b="1"/>
            </a:br>
            <a:r>
              <a:rPr lang="en-GB" sz="1100"/>
              <a:t> Collected data is cleaned and aligned spatially and temporally before being integrated into a unified dataset.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Feature Engineering</a:t>
            </a:r>
            <a:br>
              <a:rPr lang="en-GB" sz="1100" b="1"/>
            </a:br>
            <a:r>
              <a:rPr lang="en-GB" sz="1100"/>
              <a:t> Environmental and weather indicators such as NDVI, NDMI, drying power and fuel combustibility are derived.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Model Development</a:t>
            </a:r>
            <a:br>
              <a:rPr lang="en-GB" sz="1100" b="1"/>
            </a:br>
            <a:r>
              <a:rPr lang="en-GB" sz="1100"/>
              <a:t> Random Forest and XGBoost are trained using SMOTE, cross-validation and hyperparameter tuning.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Risk Prediction</a:t>
            </a:r>
            <a:br>
              <a:rPr lang="en-GB" sz="1100" b="1"/>
            </a:br>
            <a:r>
              <a:rPr lang="en-GB" sz="1100"/>
              <a:t> The selected model predicts location-specific wildfire risk as </a:t>
            </a:r>
            <a:r>
              <a:rPr lang="en-GB" sz="1100" b="1"/>
              <a:t>Low, Medium or High</a:t>
            </a:r>
            <a:r>
              <a:rPr lang="en-GB" sz="1100"/>
              <a:t>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Explainability &amp; Deployment</a:t>
            </a:r>
            <a:br>
              <a:rPr lang="en-GB" sz="1100" b="1"/>
            </a:br>
            <a:r>
              <a:rPr lang="en-GB" sz="1100"/>
              <a:t> SHAP explains the factors behind predictions, while </a:t>
            </a:r>
            <a:r>
              <a:rPr lang="en-GB" sz="1100" b="1"/>
              <a:t>Streamlit + Folium</a:t>
            </a:r>
            <a:r>
              <a:rPr lang="en-GB" sz="1100"/>
              <a:t> provide an interactive risk dashboard.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/>
              <a:t>Bottom statement</a:t>
            </a:r>
            <a:endParaRPr sz="13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Data → Processing → ML → Risk Prediction → Explainable Decision Support</a:t>
            </a:r>
            <a:endParaRPr sz="11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7"/>
          <p:cNvSpPr txBox="1">
            <a:spLocks noGrp="1"/>
          </p:cNvSpPr>
          <p:nvPr>
            <p:ph type="title"/>
          </p:nvPr>
        </p:nvSpPr>
        <p:spPr>
          <a:xfrm>
            <a:off x="243750" y="283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Performance Evaluation</a:t>
            </a:r>
            <a:endParaRPr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23" name="Google Shape;523;p5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856125"/>
            <a:ext cx="8575973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8"/>
          <p:cNvSpPr txBox="1">
            <a:spLocks noGrp="1"/>
          </p:cNvSpPr>
          <p:nvPr>
            <p:ph type="title"/>
          </p:nvPr>
        </p:nvSpPr>
        <p:spPr>
          <a:xfrm>
            <a:off x="660475" y="269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</a:t>
            </a:r>
            <a:endParaRPr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29" name="Google Shape;529;p5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09525" y="841950"/>
            <a:ext cx="8643627" cy="419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5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33725" y="605111"/>
            <a:ext cx="8249326" cy="4429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75" y="718185"/>
            <a:ext cx="6953250" cy="39109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25170"/>
            <a:ext cx="9144000" cy="3693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0"/>
          <p:cNvSpPr txBox="1"/>
          <p:nvPr/>
        </p:nvSpPr>
        <p:spPr>
          <a:xfrm>
            <a:off x="275925" y="1760050"/>
            <a:ext cx="4755900" cy="20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Thank You</a:t>
            </a:r>
            <a:endParaRPr sz="71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BY     </a:t>
            </a: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Ch. Aditya  </a:t>
            </a:r>
            <a:endParaRPr sz="1100" b="1"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A.Aaryan</a:t>
            </a:r>
            <a:endParaRPr sz="1100" b="1"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K. Gokul</a:t>
            </a:r>
            <a:endParaRPr sz="16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M. Sathwik</a:t>
            </a:r>
            <a:endParaRPr sz="16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Y. Gokul</a:t>
            </a:r>
            <a:endParaRPr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     </a:t>
            </a:r>
            <a:endParaRPr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40" name="Google Shape;540;p6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199" r="199"/>
          <a:stretch>
            <a:fillRect/>
          </a:stretch>
        </p:blipFill>
        <p:spPr>
          <a:xfrm flipH="1">
            <a:off x="5709901" y="-242450"/>
            <a:ext cx="3434099" cy="6096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1" name="Google Shape;541;p60"/>
          <p:cNvGrpSpPr/>
          <p:nvPr/>
        </p:nvGrpSpPr>
        <p:grpSpPr>
          <a:xfrm>
            <a:off x="5031828" y="-285751"/>
            <a:ext cx="2267576" cy="6096252"/>
            <a:chOff x="5579076" y="-25937"/>
            <a:chExt cx="2267576" cy="5195375"/>
          </a:xfrm>
        </p:grpSpPr>
        <p:pic>
          <p:nvPicPr>
            <p:cNvPr id="542" name="Google Shape;542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ire, Drought and Deforestation Relationships Thesis Defense by Slidesgo">
  <a:themeElements>
    <a:clrScheme name="Simple Light">
      <a:dk1>
        <a:srgbClr val="2F3536"/>
      </a:dk1>
      <a:lt1>
        <a:srgbClr val="F5F5F5"/>
      </a:lt1>
      <a:dk2>
        <a:srgbClr val="83838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F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8198</Words>
  <Application>WPS Presentation</Application>
  <PresentationFormat>On-screen Show (16:9)</PresentationFormat>
  <Paragraphs>245</Paragraphs>
  <Slides>22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SimSun</vt:lpstr>
      <vt:lpstr>Wingdings</vt:lpstr>
      <vt:lpstr>Arial</vt:lpstr>
      <vt:lpstr>Figtree</vt:lpstr>
      <vt:lpstr>Assistant</vt:lpstr>
      <vt:lpstr>DM Sans</vt:lpstr>
      <vt:lpstr>Figtree SemiBold</vt:lpstr>
      <vt:lpstr>Assistant Light</vt:lpstr>
      <vt:lpstr>Nunito Light</vt:lpstr>
      <vt:lpstr>Segoe Print</vt:lpstr>
      <vt:lpstr>Noto Sans Light</vt:lpstr>
      <vt:lpstr>Encode Sans</vt:lpstr>
      <vt:lpstr>Microsoft YaHei</vt:lpstr>
      <vt:lpstr>Arial Unicode MS</vt:lpstr>
      <vt:lpstr>Simple Light</vt:lpstr>
      <vt:lpstr>Fire, Drought and Deforestation Relationships Thesis Defense by Slidesgo</vt:lpstr>
      <vt:lpstr>Machine Learning-Based Wildfire Risk Prediction Using Satellite and Weather Data</vt:lpstr>
      <vt:lpstr>08</vt:lpstr>
      <vt:lpstr>Problem Statement</vt:lpstr>
      <vt:lpstr> Early Monitoring &amp; Action </vt:lpstr>
      <vt:lpstr>OBJECTIVES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Feasibility Analysis </vt:lpstr>
      <vt:lpstr>Plan &amp; Expected Outcomes </vt:lpstr>
      <vt:lpstr>Methodology</vt:lpstr>
      <vt:lpstr>PowerPoint 演示文稿</vt:lpstr>
      <vt:lpstr>PowerPoint 演示文稿</vt:lpstr>
      <vt:lpstr>Implementation </vt:lpstr>
      <vt:lpstr>Performance Evaluation</vt:lpstr>
      <vt:lpstr>Results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Kavuri Gokul</cp:lastModifiedBy>
  <cp:revision>2</cp:revision>
  <dcterms:created xsi:type="dcterms:W3CDTF">2026-10-16T08:35:56Z</dcterms:created>
  <dcterms:modified xsi:type="dcterms:W3CDTF">2026-10-16T08:39:26Z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21B18BD5667645209C548FDF5480A4A1_13</vt:lpwstr>
  </property>
  <property fmtid="{D5CDD505-2E9C-101B-9397-08002B2CF9AE}" pid="3" name="KSOProductBuildVer">
    <vt:lpwstr>2057-12.2.0.23206</vt:lpwstr>
  </property>
</Properties>
</file>